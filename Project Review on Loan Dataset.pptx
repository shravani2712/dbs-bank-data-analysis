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sldIdLst>
    <p:sldId id="257" r:id="rId5"/>
    <p:sldId id="275" r:id="rId6"/>
    <p:sldId id="259" r:id="rId7"/>
    <p:sldId id="270" r:id="rId8"/>
    <p:sldId id="274" r:id="rId9"/>
    <p:sldId id="258" r:id="rId10"/>
    <p:sldId id="271" r:id="rId11"/>
    <p:sldId id="273" r:id="rId12"/>
    <p:sldId id="260" r:id="rId13"/>
    <p:sldId id="262" r:id="rId14"/>
    <p:sldId id="264" r:id="rId15"/>
    <p:sldId id="276" r:id="rId16"/>
    <p:sldId id="277" r:id="rId17"/>
    <p:sldId id="266" r:id="rId18"/>
    <p:sldId id="267" r:id="rId19"/>
    <p:sldId id="26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A1055F-BC11-4171-8514-00CCA7B40A07}" v="12" dt="2025-10-15T09:14:37.2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5529" autoAdjust="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SHIKESH POCHHI" userId="4d9a93d6bffa5c88" providerId="LiveId" clId="{BEC55A5A-6AA3-4A08-8A1C-3348E8FF52CD}"/>
    <pc:docChg chg="undo custSel delSld modSld">
      <pc:chgData name="RUSHIKESH POCHHI" userId="4d9a93d6bffa5c88" providerId="LiveId" clId="{BEC55A5A-6AA3-4A08-8A1C-3348E8FF52CD}" dt="2025-10-15T09:16:21.079" v="1207" actId="20577"/>
      <pc:docMkLst>
        <pc:docMk/>
      </pc:docMkLst>
      <pc:sldChg chg="modSp mod">
        <pc:chgData name="RUSHIKESH POCHHI" userId="4d9a93d6bffa5c88" providerId="LiveId" clId="{BEC55A5A-6AA3-4A08-8A1C-3348E8FF52CD}" dt="2025-10-15T07:48:10.855" v="77" actId="688"/>
        <pc:sldMkLst>
          <pc:docMk/>
          <pc:sldMk cId="2475805559" sldId="257"/>
        </pc:sldMkLst>
        <pc:spChg chg="mod">
          <ac:chgData name="RUSHIKESH POCHHI" userId="4d9a93d6bffa5c88" providerId="LiveId" clId="{BEC55A5A-6AA3-4A08-8A1C-3348E8FF52CD}" dt="2025-10-15T07:48:03.467" v="75" actId="14100"/>
          <ac:spMkLst>
            <pc:docMk/>
            <pc:sldMk cId="2475805559" sldId="257"/>
            <ac:spMk id="2" creationId="{1C21E816-31F5-48BB-BD02-D15F2F18B48A}"/>
          </ac:spMkLst>
        </pc:spChg>
        <pc:spChg chg="mod">
          <ac:chgData name="RUSHIKESH POCHHI" userId="4d9a93d6bffa5c88" providerId="LiveId" clId="{BEC55A5A-6AA3-4A08-8A1C-3348E8FF52CD}" dt="2025-10-15T07:48:10.855" v="77" actId="688"/>
          <ac:spMkLst>
            <pc:docMk/>
            <pc:sldMk cId="2475805559" sldId="257"/>
            <ac:spMk id="3" creationId="{835D6E6B-3353-491C-A3C6-F278D6CED8B3}"/>
          </ac:spMkLst>
        </pc:spChg>
      </pc:sldChg>
      <pc:sldChg chg="modSp mod">
        <pc:chgData name="RUSHIKESH POCHHI" userId="4d9a93d6bffa5c88" providerId="LiveId" clId="{BEC55A5A-6AA3-4A08-8A1C-3348E8FF52CD}" dt="2025-10-15T08:07:11.238" v="773" actId="20577"/>
        <pc:sldMkLst>
          <pc:docMk/>
          <pc:sldMk cId="0" sldId="258"/>
        </pc:sldMkLst>
        <pc:graphicFrameChg chg="mod modGraphic">
          <ac:chgData name="RUSHIKESH POCHHI" userId="4d9a93d6bffa5c88" providerId="LiveId" clId="{BEC55A5A-6AA3-4A08-8A1C-3348E8FF52CD}" dt="2025-10-15T08:07:11.238" v="773" actId="20577"/>
          <ac:graphicFrameMkLst>
            <pc:docMk/>
            <pc:sldMk cId="0" sldId="258"/>
            <ac:graphicFrameMk id="67" creationId="{FD78770C-FA8F-5D90-6113-B385C8A57E4A}"/>
          </ac:graphicFrameMkLst>
        </pc:graphicFrameChg>
      </pc:sldChg>
      <pc:sldChg chg="modSp mod">
        <pc:chgData name="RUSHIKESH POCHHI" userId="4d9a93d6bffa5c88" providerId="LiveId" clId="{BEC55A5A-6AA3-4A08-8A1C-3348E8FF52CD}" dt="2025-10-15T07:49:05.976" v="109" actId="20577"/>
        <pc:sldMkLst>
          <pc:docMk/>
          <pc:sldMk cId="1523040123" sldId="259"/>
        </pc:sldMkLst>
        <pc:spChg chg="mod">
          <ac:chgData name="RUSHIKESH POCHHI" userId="4d9a93d6bffa5c88" providerId="LiveId" clId="{BEC55A5A-6AA3-4A08-8A1C-3348E8FF52CD}" dt="2025-10-15T07:49:05.976" v="109" actId="20577"/>
          <ac:spMkLst>
            <pc:docMk/>
            <pc:sldMk cId="1523040123" sldId="259"/>
            <ac:spMk id="3" creationId="{EAA229B0-ECA6-63A2-39E8-4F62A3F1AFF0}"/>
          </ac:spMkLst>
        </pc:spChg>
      </pc:sldChg>
      <pc:sldChg chg="addSp delSp modSp mod">
        <pc:chgData name="RUSHIKESH POCHHI" userId="4d9a93d6bffa5c88" providerId="LiveId" clId="{BEC55A5A-6AA3-4A08-8A1C-3348E8FF52CD}" dt="2025-10-15T08:53:15.422" v="775" actId="478"/>
        <pc:sldMkLst>
          <pc:docMk/>
          <pc:sldMk cId="3557551058" sldId="262"/>
        </pc:sldMkLst>
        <pc:spChg chg="add mod">
          <ac:chgData name="RUSHIKESH POCHHI" userId="4d9a93d6bffa5c88" providerId="LiveId" clId="{BEC55A5A-6AA3-4A08-8A1C-3348E8FF52CD}" dt="2025-10-15T08:53:15.422" v="775" actId="478"/>
          <ac:spMkLst>
            <pc:docMk/>
            <pc:sldMk cId="3557551058" sldId="262"/>
            <ac:spMk id="4" creationId="{3C84F069-1CE7-07B6-B2B5-C9D09B2E606A}"/>
          </ac:spMkLst>
        </pc:spChg>
        <pc:picChg chg="del">
          <ac:chgData name="RUSHIKESH POCHHI" userId="4d9a93d6bffa5c88" providerId="LiveId" clId="{BEC55A5A-6AA3-4A08-8A1C-3348E8FF52CD}" dt="2025-10-15T08:53:15.422" v="775" actId="478"/>
          <ac:picMkLst>
            <pc:docMk/>
            <pc:sldMk cId="3557551058" sldId="262"/>
            <ac:picMk id="5" creationId="{7DF0A596-BB34-7709-9377-285F3DD945CA}"/>
          </ac:picMkLst>
        </pc:picChg>
      </pc:sldChg>
      <pc:sldChg chg="modSp mod">
        <pc:chgData name="RUSHIKESH POCHHI" userId="4d9a93d6bffa5c88" providerId="LiveId" clId="{BEC55A5A-6AA3-4A08-8A1C-3348E8FF52CD}" dt="2025-10-15T09:16:21.079" v="1207" actId="20577"/>
        <pc:sldMkLst>
          <pc:docMk/>
          <pc:sldMk cId="0" sldId="271"/>
        </pc:sldMkLst>
        <pc:graphicFrameChg chg="mod modGraphic">
          <ac:chgData name="RUSHIKESH POCHHI" userId="4d9a93d6bffa5c88" providerId="LiveId" clId="{BEC55A5A-6AA3-4A08-8A1C-3348E8FF52CD}" dt="2025-10-15T09:16:21.079" v="1207" actId="20577"/>
          <ac:graphicFrameMkLst>
            <pc:docMk/>
            <pc:sldMk cId="0" sldId="271"/>
            <ac:graphicFrameMk id="16" creationId="{DC28D6DF-AFBC-E40D-A9B4-D05B19D8240A}"/>
          </ac:graphicFrameMkLst>
        </pc:graphicFrameChg>
      </pc:sldChg>
      <pc:sldChg chg="del">
        <pc:chgData name="RUSHIKESH POCHHI" userId="4d9a93d6bffa5c88" providerId="LiveId" clId="{BEC55A5A-6AA3-4A08-8A1C-3348E8FF52CD}" dt="2025-10-15T08:53:07.201" v="774" actId="47"/>
        <pc:sldMkLst>
          <pc:docMk/>
          <pc:sldMk cId="0" sldId="272"/>
        </pc:sldMkLst>
      </pc:sldChg>
      <pc:sldChg chg="modSp mod">
        <pc:chgData name="RUSHIKESH POCHHI" userId="4d9a93d6bffa5c88" providerId="LiveId" clId="{BEC55A5A-6AA3-4A08-8A1C-3348E8FF52CD}" dt="2025-10-15T07:59:21.779" v="555"/>
        <pc:sldMkLst>
          <pc:docMk/>
          <pc:sldMk cId="0" sldId="274"/>
        </pc:sldMkLst>
        <pc:graphicFrameChg chg="mod modGraphic">
          <ac:chgData name="RUSHIKESH POCHHI" userId="4d9a93d6bffa5c88" providerId="LiveId" clId="{BEC55A5A-6AA3-4A08-8A1C-3348E8FF52CD}" dt="2025-10-15T07:59:21.779" v="555"/>
          <ac:graphicFrameMkLst>
            <pc:docMk/>
            <pc:sldMk cId="0" sldId="274"/>
            <ac:graphicFrameMk id="5" creationId="{744CC5AD-985E-D342-49FF-99974579D1BB}"/>
          </ac:graphicFrameMkLst>
        </pc:graphicFrame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3.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1.png"/><Relationship Id="rId3" Type="http://schemas.openxmlformats.org/officeDocument/2006/relationships/image" Target="../media/image2.png"/><Relationship Id="rId7" Type="http://schemas.openxmlformats.org/officeDocument/2006/relationships/image" Target="../media/image8.png"/><Relationship Id="rId12" Type="http://schemas.openxmlformats.org/officeDocument/2006/relationships/image" Target="../media/image20.svg"/><Relationship Id="rId2" Type="http://schemas.openxmlformats.org/officeDocument/2006/relationships/image" Target="../media/image13.svg"/><Relationship Id="rId16" Type="http://schemas.openxmlformats.org/officeDocument/2006/relationships/image" Target="../media/image24.svg"/><Relationship Id="rId1" Type="http://schemas.openxmlformats.org/officeDocument/2006/relationships/image" Target="../media/image12.png"/><Relationship Id="rId6" Type="http://schemas.openxmlformats.org/officeDocument/2006/relationships/image" Target="../media/image16.svg"/><Relationship Id="rId11" Type="http://schemas.openxmlformats.org/officeDocument/2006/relationships/image" Target="../media/image6.png"/><Relationship Id="rId5" Type="http://schemas.openxmlformats.org/officeDocument/2006/relationships/image" Target="../media/image15.png"/><Relationship Id="rId15" Type="http://schemas.openxmlformats.org/officeDocument/2006/relationships/image" Target="../media/image23.png"/><Relationship Id="rId10" Type="http://schemas.openxmlformats.org/officeDocument/2006/relationships/image" Target="../media/image19.svg"/><Relationship Id="rId4" Type="http://schemas.openxmlformats.org/officeDocument/2006/relationships/image" Target="../media/image14.svg"/><Relationship Id="rId9" Type="http://schemas.openxmlformats.org/officeDocument/2006/relationships/image" Target="../media/image18.png"/><Relationship Id="rId14" Type="http://schemas.openxmlformats.org/officeDocument/2006/relationships/image" Target="../media/image2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3.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1.png"/><Relationship Id="rId3" Type="http://schemas.openxmlformats.org/officeDocument/2006/relationships/image" Target="../media/image2.png"/><Relationship Id="rId7" Type="http://schemas.openxmlformats.org/officeDocument/2006/relationships/image" Target="../media/image8.png"/><Relationship Id="rId12" Type="http://schemas.openxmlformats.org/officeDocument/2006/relationships/image" Target="../media/image20.svg"/><Relationship Id="rId2" Type="http://schemas.openxmlformats.org/officeDocument/2006/relationships/image" Target="../media/image13.svg"/><Relationship Id="rId16" Type="http://schemas.openxmlformats.org/officeDocument/2006/relationships/image" Target="../media/image24.svg"/><Relationship Id="rId1" Type="http://schemas.openxmlformats.org/officeDocument/2006/relationships/image" Target="../media/image12.png"/><Relationship Id="rId6" Type="http://schemas.openxmlformats.org/officeDocument/2006/relationships/image" Target="../media/image16.svg"/><Relationship Id="rId11" Type="http://schemas.openxmlformats.org/officeDocument/2006/relationships/image" Target="../media/image6.png"/><Relationship Id="rId5" Type="http://schemas.openxmlformats.org/officeDocument/2006/relationships/image" Target="../media/image15.png"/><Relationship Id="rId15" Type="http://schemas.openxmlformats.org/officeDocument/2006/relationships/image" Target="../media/image23.png"/><Relationship Id="rId10" Type="http://schemas.openxmlformats.org/officeDocument/2006/relationships/image" Target="../media/image19.svg"/><Relationship Id="rId4" Type="http://schemas.openxmlformats.org/officeDocument/2006/relationships/image" Target="../media/image14.svg"/><Relationship Id="rId9" Type="http://schemas.openxmlformats.org/officeDocument/2006/relationships/image" Target="../media/image18.png"/><Relationship Id="rId1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D85CB4-8E2E-4CBF-8881-C784306D9FC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54B25CCC-3F28-4AB4-AF1D-98E93A25B919}">
      <dgm:prSet/>
      <dgm:spPr/>
      <dgm:t>
        <a:bodyPr/>
        <a:lstStyle/>
        <a:p>
          <a:r>
            <a:rPr lang="en-US" dirty="0"/>
            <a:t>Total Clients:  2K</a:t>
          </a:r>
        </a:p>
      </dgm:t>
    </dgm:pt>
    <dgm:pt modelId="{55BD5EEC-B4F4-4288-8F3A-043124094499}" type="parTrans" cxnId="{709EC2C6-6AD6-44A4-A295-D74B9D7F9C78}">
      <dgm:prSet/>
      <dgm:spPr/>
      <dgm:t>
        <a:bodyPr/>
        <a:lstStyle/>
        <a:p>
          <a:endParaRPr lang="en-US"/>
        </a:p>
      </dgm:t>
    </dgm:pt>
    <dgm:pt modelId="{7C1EC5F5-D863-462A-96C2-269F737464FE}" type="sibTrans" cxnId="{709EC2C6-6AD6-44A4-A295-D74B9D7F9C78}">
      <dgm:prSet/>
      <dgm:spPr/>
      <dgm:t>
        <a:bodyPr/>
        <a:lstStyle/>
        <a:p>
          <a:endParaRPr lang="en-US"/>
        </a:p>
      </dgm:t>
    </dgm:pt>
    <dgm:pt modelId="{BD491B85-5D87-40DC-A3DF-9B9BAB0A16B8}">
      <dgm:prSet/>
      <dgm:spPr/>
      <dgm:t>
        <a:bodyPr/>
        <a:lstStyle/>
        <a:p>
          <a:r>
            <a:rPr lang="en-US" dirty="0"/>
            <a:t>Active Clients: 324</a:t>
          </a:r>
        </a:p>
      </dgm:t>
    </dgm:pt>
    <dgm:pt modelId="{B732E913-0947-4922-B805-F8869DD17009}" type="parTrans" cxnId="{0E1A6904-4B74-489F-8E93-9A0FD1D458C1}">
      <dgm:prSet/>
      <dgm:spPr/>
      <dgm:t>
        <a:bodyPr/>
        <a:lstStyle/>
        <a:p>
          <a:endParaRPr lang="en-US"/>
        </a:p>
      </dgm:t>
    </dgm:pt>
    <dgm:pt modelId="{181DC34D-6B80-43B3-9258-0BF9F7C5A99D}" type="sibTrans" cxnId="{0E1A6904-4B74-489F-8E93-9A0FD1D458C1}">
      <dgm:prSet/>
      <dgm:spPr/>
      <dgm:t>
        <a:bodyPr/>
        <a:lstStyle/>
        <a:p>
          <a:endParaRPr lang="en-US"/>
        </a:p>
      </dgm:t>
    </dgm:pt>
    <dgm:pt modelId="{9DB4A481-D672-4191-A280-E03DAB434BE9}">
      <dgm:prSet/>
      <dgm:spPr/>
      <dgm:t>
        <a:bodyPr/>
        <a:lstStyle/>
        <a:p>
          <a:r>
            <a:rPr lang="en-US" dirty="0"/>
            <a:t>Total Funded Amount: ₹5,23,61,094</a:t>
          </a:r>
        </a:p>
      </dgm:t>
    </dgm:pt>
    <dgm:pt modelId="{7034C569-E129-4C17-AD16-77C29BE22BF6}" type="parTrans" cxnId="{BC1744E3-92EE-48CB-83BB-341146079974}">
      <dgm:prSet/>
      <dgm:spPr/>
      <dgm:t>
        <a:bodyPr/>
        <a:lstStyle/>
        <a:p>
          <a:endParaRPr lang="en-US"/>
        </a:p>
      </dgm:t>
    </dgm:pt>
    <dgm:pt modelId="{E43BF6B8-DA6D-4C6C-A678-E942D5F7F848}" type="sibTrans" cxnId="{BC1744E3-92EE-48CB-83BB-341146079974}">
      <dgm:prSet/>
      <dgm:spPr/>
      <dgm:t>
        <a:bodyPr/>
        <a:lstStyle/>
        <a:p>
          <a:endParaRPr lang="en-US"/>
        </a:p>
      </dgm:t>
    </dgm:pt>
    <dgm:pt modelId="{AED3C95A-B3D8-4A64-95D4-793223E518BB}">
      <dgm:prSet/>
      <dgm:spPr/>
      <dgm:t>
        <a:bodyPr/>
        <a:lstStyle/>
        <a:p>
          <a:r>
            <a:rPr lang="en-US" dirty="0"/>
            <a:t>Top 3 Loan Distribution by Branch: Dhuri Branch, </a:t>
          </a:r>
          <a:r>
            <a:rPr lang="en-US" dirty="0" err="1"/>
            <a:t>Motihari</a:t>
          </a:r>
          <a:r>
            <a:rPr lang="en-US" dirty="0"/>
            <a:t> Branch, Bilaspur Branch</a:t>
          </a:r>
        </a:p>
      </dgm:t>
    </dgm:pt>
    <dgm:pt modelId="{D9E2CC58-41CC-4B51-8118-27E8437E3868}" type="parTrans" cxnId="{502A9DA1-9AA4-4815-BE1A-E953BE6DD500}">
      <dgm:prSet/>
      <dgm:spPr/>
      <dgm:t>
        <a:bodyPr/>
        <a:lstStyle/>
        <a:p>
          <a:endParaRPr lang="en-US"/>
        </a:p>
      </dgm:t>
    </dgm:pt>
    <dgm:pt modelId="{6CB6F1B8-E3A8-4AC4-A383-3B9942409AD9}" type="sibTrans" cxnId="{502A9DA1-9AA4-4815-BE1A-E953BE6DD500}">
      <dgm:prSet/>
      <dgm:spPr/>
      <dgm:t>
        <a:bodyPr/>
        <a:lstStyle/>
        <a:p>
          <a:endParaRPr lang="en-US"/>
        </a:p>
      </dgm:t>
    </dgm:pt>
    <dgm:pt modelId="{C212C415-D512-4CDB-9F98-03FB369C2A48}">
      <dgm:prSet/>
      <dgm:spPr/>
      <dgm:t>
        <a:bodyPr/>
        <a:lstStyle/>
        <a:p>
          <a:r>
            <a:rPr lang="en-US" dirty="0"/>
            <a:t>Total Repayments Collect : 5,38,61,255</a:t>
          </a:r>
        </a:p>
      </dgm:t>
    </dgm:pt>
    <dgm:pt modelId="{070A63C3-977F-4D5A-A16D-4B03A137AB09}" type="parTrans" cxnId="{A98F8B17-38C9-49A1-B9D6-7FD52E330552}">
      <dgm:prSet/>
      <dgm:spPr/>
      <dgm:t>
        <a:bodyPr/>
        <a:lstStyle/>
        <a:p>
          <a:endParaRPr lang="en-US"/>
        </a:p>
      </dgm:t>
    </dgm:pt>
    <dgm:pt modelId="{437734FF-ED08-4BF5-9775-AAF78F4E981F}" type="sibTrans" cxnId="{A98F8B17-38C9-49A1-B9D6-7FD52E330552}">
      <dgm:prSet/>
      <dgm:spPr/>
      <dgm:t>
        <a:bodyPr/>
        <a:lstStyle/>
        <a:p>
          <a:endParaRPr lang="en-US"/>
        </a:p>
      </dgm:t>
    </dgm:pt>
    <dgm:pt modelId="{B2B09412-6641-4077-9488-9479F0F60D60}" type="pres">
      <dgm:prSet presAssocID="{EDD85CB4-8E2E-4CBF-8881-C784306D9FCB}" presName="root" presStyleCnt="0">
        <dgm:presLayoutVars>
          <dgm:dir/>
          <dgm:resizeHandles val="exact"/>
        </dgm:presLayoutVars>
      </dgm:prSet>
      <dgm:spPr/>
    </dgm:pt>
    <dgm:pt modelId="{446928A7-E202-401B-9B3A-D28182100E2C}" type="pres">
      <dgm:prSet presAssocID="{54B25CCC-3F28-4AB4-AF1D-98E93A25B919}" presName="compNode" presStyleCnt="0"/>
      <dgm:spPr/>
    </dgm:pt>
    <dgm:pt modelId="{741DB403-2F06-4143-ADEF-F72AA1D53F71}" type="pres">
      <dgm:prSet presAssocID="{54B25CCC-3F28-4AB4-AF1D-98E93A25B919}" presName="bgRect" presStyleLbl="bgShp" presStyleIdx="0" presStyleCnt="5"/>
      <dgm:spPr/>
    </dgm:pt>
    <dgm:pt modelId="{F1490DDE-08C9-498C-A477-660D69E3AF8A}" type="pres">
      <dgm:prSet presAssocID="{54B25CCC-3F28-4AB4-AF1D-98E93A25B91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21AF0446-ED4E-4A78-BC59-28F3F7A1967E}" type="pres">
      <dgm:prSet presAssocID="{54B25CCC-3F28-4AB4-AF1D-98E93A25B919}" presName="spaceRect" presStyleCnt="0"/>
      <dgm:spPr/>
    </dgm:pt>
    <dgm:pt modelId="{C5C25CF4-84E9-4156-947E-929165A90B15}" type="pres">
      <dgm:prSet presAssocID="{54B25CCC-3F28-4AB4-AF1D-98E93A25B919}" presName="parTx" presStyleLbl="revTx" presStyleIdx="0" presStyleCnt="5">
        <dgm:presLayoutVars>
          <dgm:chMax val="0"/>
          <dgm:chPref val="0"/>
        </dgm:presLayoutVars>
      </dgm:prSet>
      <dgm:spPr/>
    </dgm:pt>
    <dgm:pt modelId="{8EDEA555-FAFA-4259-8BF6-61AB1CD6F806}" type="pres">
      <dgm:prSet presAssocID="{7C1EC5F5-D863-462A-96C2-269F737464FE}" presName="sibTrans" presStyleCnt="0"/>
      <dgm:spPr/>
    </dgm:pt>
    <dgm:pt modelId="{13A95C14-99DB-496C-89B0-9FE7896CA8F4}" type="pres">
      <dgm:prSet presAssocID="{BD491B85-5D87-40DC-A3DF-9B9BAB0A16B8}" presName="compNode" presStyleCnt="0"/>
      <dgm:spPr/>
    </dgm:pt>
    <dgm:pt modelId="{4F525CDA-BF0D-4D91-8425-3A65E187E5DC}" type="pres">
      <dgm:prSet presAssocID="{BD491B85-5D87-40DC-A3DF-9B9BAB0A16B8}" presName="bgRect" presStyleLbl="bgShp" presStyleIdx="1" presStyleCnt="5"/>
      <dgm:spPr/>
    </dgm:pt>
    <dgm:pt modelId="{C79436D1-44C5-4FB1-9C54-F898CFF5EEAB}" type="pres">
      <dgm:prSet presAssocID="{BD491B85-5D87-40DC-A3DF-9B9BAB0A16B8}"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ins"/>
        </a:ext>
      </dgm:extLst>
    </dgm:pt>
    <dgm:pt modelId="{2A1C16A5-6914-4141-B6D6-59100DC0136A}" type="pres">
      <dgm:prSet presAssocID="{BD491B85-5D87-40DC-A3DF-9B9BAB0A16B8}" presName="spaceRect" presStyleCnt="0"/>
      <dgm:spPr/>
    </dgm:pt>
    <dgm:pt modelId="{018DF6F8-29FA-442A-84C2-DDDAD2978035}" type="pres">
      <dgm:prSet presAssocID="{BD491B85-5D87-40DC-A3DF-9B9BAB0A16B8}" presName="parTx" presStyleLbl="revTx" presStyleIdx="1" presStyleCnt="5">
        <dgm:presLayoutVars>
          <dgm:chMax val="0"/>
          <dgm:chPref val="0"/>
        </dgm:presLayoutVars>
      </dgm:prSet>
      <dgm:spPr/>
    </dgm:pt>
    <dgm:pt modelId="{211AC192-375D-4D0F-81A7-13586683A27D}" type="pres">
      <dgm:prSet presAssocID="{181DC34D-6B80-43B3-9258-0BF9F7C5A99D}" presName="sibTrans" presStyleCnt="0"/>
      <dgm:spPr/>
    </dgm:pt>
    <dgm:pt modelId="{445BA8B9-CAD2-4DB0-87DA-B69E63E41ABC}" type="pres">
      <dgm:prSet presAssocID="{9DB4A481-D672-4191-A280-E03DAB434BE9}" presName="compNode" presStyleCnt="0"/>
      <dgm:spPr/>
    </dgm:pt>
    <dgm:pt modelId="{E09079A4-27A6-4450-9343-4E7FE69C6B18}" type="pres">
      <dgm:prSet presAssocID="{9DB4A481-D672-4191-A280-E03DAB434BE9}" presName="bgRect" presStyleLbl="bgShp" presStyleIdx="2" presStyleCnt="5"/>
      <dgm:spPr/>
    </dgm:pt>
    <dgm:pt modelId="{B75691C4-4C77-41AB-A26C-7C11094813C1}" type="pres">
      <dgm:prSet presAssocID="{9DB4A481-D672-4191-A280-E03DAB434BE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allet"/>
        </a:ext>
      </dgm:extLst>
    </dgm:pt>
    <dgm:pt modelId="{BC6828F3-E742-4FD8-91B7-DB8CD97A5803}" type="pres">
      <dgm:prSet presAssocID="{9DB4A481-D672-4191-A280-E03DAB434BE9}" presName="spaceRect" presStyleCnt="0"/>
      <dgm:spPr/>
    </dgm:pt>
    <dgm:pt modelId="{4F79396D-D62B-4667-8BA7-80DE21D176BF}" type="pres">
      <dgm:prSet presAssocID="{9DB4A481-D672-4191-A280-E03DAB434BE9}" presName="parTx" presStyleLbl="revTx" presStyleIdx="2" presStyleCnt="5" custScaleX="109060">
        <dgm:presLayoutVars>
          <dgm:chMax val="0"/>
          <dgm:chPref val="0"/>
        </dgm:presLayoutVars>
      </dgm:prSet>
      <dgm:spPr/>
    </dgm:pt>
    <dgm:pt modelId="{254BCC28-1C66-42EB-BB13-8D9EB464EFA1}" type="pres">
      <dgm:prSet presAssocID="{E43BF6B8-DA6D-4C6C-A678-E942D5F7F848}" presName="sibTrans" presStyleCnt="0"/>
      <dgm:spPr/>
    </dgm:pt>
    <dgm:pt modelId="{61F917AF-99AF-4DC0-84BB-3A5830B81DD9}" type="pres">
      <dgm:prSet presAssocID="{AED3C95A-B3D8-4A64-95D4-793223E518BB}" presName="compNode" presStyleCnt="0"/>
      <dgm:spPr/>
    </dgm:pt>
    <dgm:pt modelId="{80969307-9FA7-480F-B721-2DFA0CD70CB8}" type="pres">
      <dgm:prSet presAssocID="{AED3C95A-B3D8-4A64-95D4-793223E518BB}" presName="bgRect" presStyleLbl="bgShp" presStyleIdx="3" presStyleCnt="5"/>
      <dgm:spPr/>
    </dgm:pt>
    <dgm:pt modelId="{237814D5-A3A6-4109-AB92-82B83F09E91D}" type="pres">
      <dgm:prSet presAssocID="{AED3C95A-B3D8-4A64-95D4-793223E518B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ranching Diagram"/>
        </a:ext>
      </dgm:extLst>
    </dgm:pt>
    <dgm:pt modelId="{C7BCBB3C-386B-4004-8563-ED0C5A27DD49}" type="pres">
      <dgm:prSet presAssocID="{AED3C95A-B3D8-4A64-95D4-793223E518BB}" presName="spaceRect" presStyleCnt="0"/>
      <dgm:spPr/>
    </dgm:pt>
    <dgm:pt modelId="{F85CE012-22CA-4376-A6A3-74343FCA1D92}" type="pres">
      <dgm:prSet presAssocID="{AED3C95A-B3D8-4A64-95D4-793223E518BB}" presName="parTx" presStyleLbl="revTx" presStyleIdx="3" presStyleCnt="5">
        <dgm:presLayoutVars>
          <dgm:chMax val="0"/>
          <dgm:chPref val="0"/>
        </dgm:presLayoutVars>
      </dgm:prSet>
      <dgm:spPr/>
    </dgm:pt>
    <dgm:pt modelId="{8CD1146A-C948-4C02-AF21-675C93F72151}" type="pres">
      <dgm:prSet presAssocID="{6CB6F1B8-E3A8-4AC4-A383-3B9942409AD9}" presName="sibTrans" presStyleCnt="0"/>
      <dgm:spPr/>
    </dgm:pt>
    <dgm:pt modelId="{FE240DA6-EA62-4DC0-A261-A72B656A8AFD}" type="pres">
      <dgm:prSet presAssocID="{C212C415-D512-4CDB-9F98-03FB369C2A48}" presName="compNode" presStyleCnt="0"/>
      <dgm:spPr/>
    </dgm:pt>
    <dgm:pt modelId="{08FBE2A1-775B-4917-AD93-32897200CB2F}" type="pres">
      <dgm:prSet presAssocID="{C212C415-D512-4CDB-9F98-03FB369C2A48}" presName="bgRect" presStyleLbl="bgShp" presStyleIdx="4" presStyleCnt="5"/>
      <dgm:spPr/>
    </dgm:pt>
    <dgm:pt modelId="{290EAA54-2681-4445-8CD8-3DA152BE354A}" type="pres">
      <dgm:prSet presAssocID="{C212C415-D512-4CDB-9F98-03FB369C2A4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Welder"/>
        </a:ext>
      </dgm:extLst>
    </dgm:pt>
    <dgm:pt modelId="{A0CEFD73-86EF-4F43-AC53-651D1987FE1B}" type="pres">
      <dgm:prSet presAssocID="{C212C415-D512-4CDB-9F98-03FB369C2A48}" presName="spaceRect" presStyleCnt="0"/>
      <dgm:spPr/>
    </dgm:pt>
    <dgm:pt modelId="{5907E315-9D4F-42AD-B5C8-4516154EB628}" type="pres">
      <dgm:prSet presAssocID="{C212C415-D512-4CDB-9F98-03FB369C2A48}" presName="parTx" presStyleLbl="revTx" presStyleIdx="4" presStyleCnt="5" custScaleX="116688">
        <dgm:presLayoutVars>
          <dgm:chMax val="0"/>
          <dgm:chPref val="0"/>
        </dgm:presLayoutVars>
      </dgm:prSet>
      <dgm:spPr/>
    </dgm:pt>
  </dgm:ptLst>
  <dgm:cxnLst>
    <dgm:cxn modelId="{0E1A6904-4B74-489F-8E93-9A0FD1D458C1}" srcId="{EDD85CB4-8E2E-4CBF-8881-C784306D9FCB}" destId="{BD491B85-5D87-40DC-A3DF-9B9BAB0A16B8}" srcOrd="1" destOrd="0" parTransId="{B732E913-0947-4922-B805-F8869DD17009}" sibTransId="{181DC34D-6B80-43B3-9258-0BF9F7C5A99D}"/>
    <dgm:cxn modelId="{A98F8B17-38C9-49A1-B9D6-7FD52E330552}" srcId="{EDD85CB4-8E2E-4CBF-8881-C784306D9FCB}" destId="{C212C415-D512-4CDB-9F98-03FB369C2A48}" srcOrd="4" destOrd="0" parTransId="{070A63C3-977F-4D5A-A16D-4B03A137AB09}" sibTransId="{437734FF-ED08-4BF5-9775-AAF78F4E981F}"/>
    <dgm:cxn modelId="{F6B8845F-9AAD-4509-8E6C-347ED10F075D}" type="presOf" srcId="{9DB4A481-D672-4191-A280-E03DAB434BE9}" destId="{4F79396D-D62B-4667-8BA7-80DE21D176BF}" srcOrd="0" destOrd="0" presId="urn:microsoft.com/office/officeart/2018/2/layout/IconVerticalSolidList"/>
    <dgm:cxn modelId="{3A5A2852-68D2-4440-9DF6-C80775257C22}" type="presOf" srcId="{AED3C95A-B3D8-4A64-95D4-793223E518BB}" destId="{F85CE012-22CA-4376-A6A3-74343FCA1D92}" srcOrd="0" destOrd="0" presId="urn:microsoft.com/office/officeart/2018/2/layout/IconVerticalSolidList"/>
    <dgm:cxn modelId="{90C91C88-00CE-4C0A-9356-B638F708BC2E}" type="presOf" srcId="{EDD85CB4-8E2E-4CBF-8881-C784306D9FCB}" destId="{B2B09412-6641-4077-9488-9479F0F60D60}" srcOrd="0" destOrd="0" presId="urn:microsoft.com/office/officeart/2018/2/layout/IconVerticalSolidList"/>
    <dgm:cxn modelId="{502A9DA1-9AA4-4815-BE1A-E953BE6DD500}" srcId="{EDD85CB4-8E2E-4CBF-8881-C784306D9FCB}" destId="{AED3C95A-B3D8-4A64-95D4-793223E518BB}" srcOrd="3" destOrd="0" parTransId="{D9E2CC58-41CC-4B51-8118-27E8437E3868}" sibTransId="{6CB6F1B8-E3A8-4AC4-A383-3B9942409AD9}"/>
    <dgm:cxn modelId="{E22F5CBC-4375-4F24-B5EF-367698202277}" type="presOf" srcId="{C212C415-D512-4CDB-9F98-03FB369C2A48}" destId="{5907E315-9D4F-42AD-B5C8-4516154EB628}" srcOrd="0" destOrd="0" presId="urn:microsoft.com/office/officeart/2018/2/layout/IconVerticalSolidList"/>
    <dgm:cxn modelId="{709EC2C6-6AD6-44A4-A295-D74B9D7F9C78}" srcId="{EDD85CB4-8E2E-4CBF-8881-C784306D9FCB}" destId="{54B25CCC-3F28-4AB4-AF1D-98E93A25B919}" srcOrd="0" destOrd="0" parTransId="{55BD5EEC-B4F4-4288-8F3A-043124094499}" sibTransId="{7C1EC5F5-D863-462A-96C2-269F737464FE}"/>
    <dgm:cxn modelId="{977424D4-5BAC-4E7C-9B5A-07A97EC3D68E}" type="presOf" srcId="{54B25CCC-3F28-4AB4-AF1D-98E93A25B919}" destId="{C5C25CF4-84E9-4156-947E-929165A90B15}" srcOrd="0" destOrd="0" presId="urn:microsoft.com/office/officeart/2018/2/layout/IconVerticalSolidList"/>
    <dgm:cxn modelId="{BC1744E3-92EE-48CB-83BB-341146079974}" srcId="{EDD85CB4-8E2E-4CBF-8881-C784306D9FCB}" destId="{9DB4A481-D672-4191-A280-E03DAB434BE9}" srcOrd="2" destOrd="0" parTransId="{7034C569-E129-4C17-AD16-77C29BE22BF6}" sibTransId="{E43BF6B8-DA6D-4C6C-A678-E942D5F7F848}"/>
    <dgm:cxn modelId="{7729ECFE-F2CF-4646-AC05-BAC02A46CD1F}" type="presOf" srcId="{BD491B85-5D87-40DC-A3DF-9B9BAB0A16B8}" destId="{018DF6F8-29FA-442A-84C2-DDDAD2978035}" srcOrd="0" destOrd="0" presId="urn:microsoft.com/office/officeart/2018/2/layout/IconVerticalSolidList"/>
    <dgm:cxn modelId="{27220D0A-70A7-42D0-AF76-2DD244E60B59}" type="presParOf" srcId="{B2B09412-6641-4077-9488-9479F0F60D60}" destId="{446928A7-E202-401B-9B3A-D28182100E2C}" srcOrd="0" destOrd="0" presId="urn:microsoft.com/office/officeart/2018/2/layout/IconVerticalSolidList"/>
    <dgm:cxn modelId="{3A5666FA-C48B-4018-A255-ABF7FB83EDE2}" type="presParOf" srcId="{446928A7-E202-401B-9B3A-D28182100E2C}" destId="{741DB403-2F06-4143-ADEF-F72AA1D53F71}" srcOrd="0" destOrd="0" presId="urn:microsoft.com/office/officeart/2018/2/layout/IconVerticalSolidList"/>
    <dgm:cxn modelId="{126A861E-B5D5-4254-B0C8-DF5500334887}" type="presParOf" srcId="{446928A7-E202-401B-9B3A-D28182100E2C}" destId="{F1490DDE-08C9-498C-A477-660D69E3AF8A}" srcOrd="1" destOrd="0" presId="urn:microsoft.com/office/officeart/2018/2/layout/IconVerticalSolidList"/>
    <dgm:cxn modelId="{B331AF20-5B70-4076-BA9E-2E457D833B48}" type="presParOf" srcId="{446928A7-E202-401B-9B3A-D28182100E2C}" destId="{21AF0446-ED4E-4A78-BC59-28F3F7A1967E}" srcOrd="2" destOrd="0" presId="urn:microsoft.com/office/officeart/2018/2/layout/IconVerticalSolidList"/>
    <dgm:cxn modelId="{886A164F-4551-4DF8-BE67-374D660A427D}" type="presParOf" srcId="{446928A7-E202-401B-9B3A-D28182100E2C}" destId="{C5C25CF4-84E9-4156-947E-929165A90B15}" srcOrd="3" destOrd="0" presId="urn:microsoft.com/office/officeart/2018/2/layout/IconVerticalSolidList"/>
    <dgm:cxn modelId="{BEF53BD5-F0CE-4B27-8544-43955949A35A}" type="presParOf" srcId="{B2B09412-6641-4077-9488-9479F0F60D60}" destId="{8EDEA555-FAFA-4259-8BF6-61AB1CD6F806}" srcOrd="1" destOrd="0" presId="urn:microsoft.com/office/officeart/2018/2/layout/IconVerticalSolidList"/>
    <dgm:cxn modelId="{B5BF5A2B-B930-4D9B-8D32-726EF14BEA14}" type="presParOf" srcId="{B2B09412-6641-4077-9488-9479F0F60D60}" destId="{13A95C14-99DB-496C-89B0-9FE7896CA8F4}" srcOrd="2" destOrd="0" presId="urn:microsoft.com/office/officeart/2018/2/layout/IconVerticalSolidList"/>
    <dgm:cxn modelId="{6FCEA7A4-102B-458B-8514-ADEF1432DBEA}" type="presParOf" srcId="{13A95C14-99DB-496C-89B0-9FE7896CA8F4}" destId="{4F525CDA-BF0D-4D91-8425-3A65E187E5DC}" srcOrd="0" destOrd="0" presId="urn:microsoft.com/office/officeart/2018/2/layout/IconVerticalSolidList"/>
    <dgm:cxn modelId="{A614A1C7-997B-480A-BAE9-1D637F06AF91}" type="presParOf" srcId="{13A95C14-99DB-496C-89B0-9FE7896CA8F4}" destId="{C79436D1-44C5-4FB1-9C54-F898CFF5EEAB}" srcOrd="1" destOrd="0" presId="urn:microsoft.com/office/officeart/2018/2/layout/IconVerticalSolidList"/>
    <dgm:cxn modelId="{4A933771-1255-46C9-BECC-A1E5F52D0EF9}" type="presParOf" srcId="{13A95C14-99DB-496C-89B0-9FE7896CA8F4}" destId="{2A1C16A5-6914-4141-B6D6-59100DC0136A}" srcOrd="2" destOrd="0" presId="urn:microsoft.com/office/officeart/2018/2/layout/IconVerticalSolidList"/>
    <dgm:cxn modelId="{37C6CACC-F139-4E20-BD8E-4928E4EF5A8B}" type="presParOf" srcId="{13A95C14-99DB-496C-89B0-9FE7896CA8F4}" destId="{018DF6F8-29FA-442A-84C2-DDDAD2978035}" srcOrd="3" destOrd="0" presId="urn:microsoft.com/office/officeart/2018/2/layout/IconVerticalSolidList"/>
    <dgm:cxn modelId="{4BAC8BA3-AED4-4656-AA63-6261F436386B}" type="presParOf" srcId="{B2B09412-6641-4077-9488-9479F0F60D60}" destId="{211AC192-375D-4D0F-81A7-13586683A27D}" srcOrd="3" destOrd="0" presId="urn:microsoft.com/office/officeart/2018/2/layout/IconVerticalSolidList"/>
    <dgm:cxn modelId="{7C7A8C7B-EF7C-4A45-9DF0-7C5AE3C09B9B}" type="presParOf" srcId="{B2B09412-6641-4077-9488-9479F0F60D60}" destId="{445BA8B9-CAD2-4DB0-87DA-B69E63E41ABC}" srcOrd="4" destOrd="0" presId="urn:microsoft.com/office/officeart/2018/2/layout/IconVerticalSolidList"/>
    <dgm:cxn modelId="{7B33822A-410F-43D1-A88B-1A291EBE836C}" type="presParOf" srcId="{445BA8B9-CAD2-4DB0-87DA-B69E63E41ABC}" destId="{E09079A4-27A6-4450-9343-4E7FE69C6B18}" srcOrd="0" destOrd="0" presId="urn:microsoft.com/office/officeart/2018/2/layout/IconVerticalSolidList"/>
    <dgm:cxn modelId="{0B3A818C-6C77-4067-BFE2-72988A9DB89B}" type="presParOf" srcId="{445BA8B9-CAD2-4DB0-87DA-B69E63E41ABC}" destId="{B75691C4-4C77-41AB-A26C-7C11094813C1}" srcOrd="1" destOrd="0" presId="urn:microsoft.com/office/officeart/2018/2/layout/IconVerticalSolidList"/>
    <dgm:cxn modelId="{08D15611-714B-4618-8AC1-36E1712DA211}" type="presParOf" srcId="{445BA8B9-CAD2-4DB0-87DA-B69E63E41ABC}" destId="{BC6828F3-E742-4FD8-91B7-DB8CD97A5803}" srcOrd="2" destOrd="0" presId="urn:microsoft.com/office/officeart/2018/2/layout/IconVerticalSolidList"/>
    <dgm:cxn modelId="{5435AEF9-A8FA-4A0F-B1DD-146E2911673A}" type="presParOf" srcId="{445BA8B9-CAD2-4DB0-87DA-B69E63E41ABC}" destId="{4F79396D-D62B-4667-8BA7-80DE21D176BF}" srcOrd="3" destOrd="0" presId="urn:microsoft.com/office/officeart/2018/2/layout/IconVerticalSolidList"/>
    <dgm:cxn modelId="{98DA8888-A0F9-42AC-8E35-E89EEE215183}" type="presParOf" srcId="{B2B09412-6641-4077-9488-9479F0F60D60}" destId="{254BCC28-1C66-42EB-BB13-8D9EB464EFA1}" srcOrd="5" destOrd="0" presId="urn:microsoft.com/office/officeart/2018/2/layout/IconVerticalSolidList"/>
    <dgm:cxn modelId="{88333BBA-C45E-4B3C-96D7-5609E7FC0F99}" type="presParOf" srcId="{B2B09412-6641-4077-9488-9479F0F60D60}" destId="{61F917AF-99AF-4DC0-84BB-3A5830B81DD9}" srcOrd="6" destOrd="0" presId="urn:microsoft.com/office/officeart/2018/2/layout/IconVerticalSolidList"/>
    <dgm:cxn modelId="{E0D479DE-F812-45C4-ABA5-9EEDEA3E2915}" type="presParOf" srcId="{61F917AF-99AF-4DC0-84BB-3A5830B81DD9}" destId="{80969307-9FA7-480F-B721-2DFA0CD70CB8}" srcOrd="0" destOrd="0" presId="urn:microsoft.com/office/officeart/2018/2/layout/IconVerticalSolidList"/>
    <dgm:cxn modelId="{3EAB1268-E5FD-44B7-A66A-6D50A272F8C4}" type="presParOf" srcId="{61F917AF-99AF-4DC0-84BB-3A5830B81DD9}" destId="{237814D5-A3A6-4109-AB92-82B83F09E91D}" srcOrd="1" destOrd="0" presId="urn:microsoft.com/office/officeart/2018/2/layout/IconVerticalSolidList"/>
    <dgm:cxn modelId="{59548426-4BF3-4D88-90C8-4D46048E2CDE}" type="presParOf" srcId="{61F917AF-99AF-4DC0-84BB-3A5830B81DD9}" destId="{C7BCBB3C-386B-4004-8563-ED0C5A27DD49}" srcOrd="2" destOrd="0" presId="urn:microsoft.com/office/officeart/2018/2/layout/IconVerticalSolidList"/>
    <dgm:cxn modelId="{5F9ACD28-3D84-4DB5-92BD-7C0469A5E89F}" type="presParOf" srcId="{61F917AF-99AF-4DC0-84BB-3A5830B81DD9}" destId="{F85CE012-22CA-4376-A6A3-74343FCA1D92}" srcOrd="3" destOrd="0" presId="urn:microsoft.com/office/officeart/2018/2/layout/IconVerticalSolidList"/>
    <dgm:cxn modelId="{912D1185-CB0C-4FFE-AF1F-75BF13412C1C}" type="presParOf" srcId="{B2B09412-6641-4077-9488-9479F0F60D60}" destId="{8CD1146A-C948-4C02-AF21-675C93F72151}" srcOrd="7" destOrd="0" presId="urn:microsoft.com/office/officeart/2018/2/layout/IconVerticalSolidList"/>
    <dgm:cxn modelId="{A4647606-CC07-476C-9604-3CAC1CE022CE}" type="presParOf" srcId="{B2B09412-6641-4077-9488-9479F0F60D60}" destId="{FE240DA6-EA62-4DC0-A261-A72B656A8AFD}" srcOrd="8" destOrd="0" presId="urn:microsoft.com/office/officeart/2018/2/layout/IconVerticalSolidList"/>
    <dgm:cxn modelId="{AE270003-0696-46BE-B4FB-E8FAB645728E}" type="presParOf" srcId="{FE240DA6-EA62-4DC0-A261-A72B656A8AFD}" destId="{08FBE2A1-775B-4917-AD93-32897200CB2F}" srcOrd="0" destOrd="0" presId="urn:microsoft.com/office/officeart/2018/2/layout/IconVerticalSolidList"/>
    <dgm:cxn modelId="{A2D2DA94-384D-4CBB-A678-3DDDE880C0C1}" type="presParOf" srcId="{FE240DA6-EA62-4DC0-A261-A72B656A8AFD}" destId="{290EAA54-2681-4445-8CD8-3DA152BE354A}" srcOrd="1" destOrd="0" presId="urn:microsoft.com/office/officeart/2018/2/layout/IconVerticalSolidList"/>
    <dgm:cxn modelId="{93B523EC-7768-484C-9055-5A909EE51162}" type="presParOf" srcId="{FE240DA6-EA62-4DC0-A261-A72B656A8AFD}" destId="{A0CEFD73-86EF-4F43-AC53-651D1987FE1B}" srcOrd="2" destOrd="0" presId="urn:microsoft.com/office/officeart/2018/2/layout/IconVerticalSolidList"/>
    <dgm:cxn modelId="{88240D9D-7F18-4433-8FEA-7F6253C138DD}" type="presParOf" srcId="{FE240DA6-EA62-4DC0-A261-A72B656A8AFD}" destId="{5907E315-9D4F-42AD-B5C8-4516154EB62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4F721CC-7776-461E-8995-1DFE213B856A}" type="doc">
      <dgm:prSet loTypeId="urn:microsoft.com/office/officeart/2005/8/layout/process4" loCatId="process" qsTypeId="urn:microsoft.com/office/officeart/2005/8/quickstyle/simple1" qsCatId="simple" csTypeId="urn:microsoft.com/office/officeart/2005/8/colors/colorful1" csCatId="colorful" phldr="1"/>
      <dgm:spPr/>
      <dgm:t>
        <a:bodyPr/>
        <a:lstStyle/>
        <a:p>
          <a:endParaRPr lang="en-US"/>
        </a:p>
      </dgm:t>
    </dgm:pt>
    <dgm:pt modelId="{91BB8169-EC7A-4E6C-AE64-E04C84E9FF51}">
      <dgm:prSet/>
      <dgm:spPr/>
      <dgm:t>
        <a:bodyPr/>
        <a:lstStyle/>
        <a:p>
          <a:r>
            <a:rPr lang="en-US" dirty="0"/>
            <a:t>New Clients: 870</a:t>
          </a:r>
        </a:p>
      </dgm:t>
    </dgm:pt>
    <dgm:pt modelId="{4B76807E-1024-44DC-81AA-AC46FFB9B184}" type="parTrans" cxnId="{96D31382-8A64-4104-8881-EE6710C586F6}">
      <dgm:prSet/>
      <dgm:spPr/>
      <dgm:t>
        <a:bodyPr/>
        <a:lstStyle/>
        <a:p>
          <a:endParaRPr lang="en-US"/>
        </a:p>
      </dgm:t>
    </dgm:pt>
    <dgm:pt modelId="{310DD45C-3A9C-4AAC-8E60-8344B146681E}" type="sibTrans" cxnId="{96D31382-8A64-4104-8881-EE6710C586F6}">
      <dgm:prSet/>
      <dgm:spPr/>
      <dgm:t>
        <a:bodyPr/>
        <a:lstStyle/>
        <a:p>
          <a:endParaRPr lang="en-US"/>
        </a:p>
      </dgm:t>
    </dgm:pt>
    <dgm:pt modelId="{0C35CEE0-E585-470B-B6C5-C7EF38868E15}">
      <dgm:prSet/>
      <dgm:spPr/>
      <dgm:t>
        <a:bodyPr/>
        <a:lstStyle/>
        <a:p>
          <a:r>
            <a:rPr lang="en-US" dirty="0"/>
            <a:t>Sum of Total Amount: 52M</a:t>
          </a:r>
        </a:p>
      </dgm:t>
    </dgm:pt>
    <dgm:pt modelId="{2FD2B753-1885-4E26-BA29-0859F37A8A03}" type="parTrans" cxnId="{378B9266-F703-4A44-8C78-59A1E0BC6956}">
      <dgm:prSet/>
      <dgm:spPr/>
      <dgm:t>
        <a:bodyPr/>
        <a:lstStyle/>
        <a:p>
          <a:endParaRPr lang="en-US"/>
        </a:p>
      </dgm:t>
    </dgm:pt>
    <dgm:pt modelId="{21C02A8C-6330-410C-A82A-F1AB80771AD1}" type="sibTrans" cxnId="{378B9266-F703-4A44-8C78-59A1E0BC6956}">
      <dgm:prSet/>
      <dgm:spPr/>
      <dgm:t>
        <a:bodyPr/>
        <a:lstStyle/>
        <a:p>
          <a:endParaRPr lang="en-US"/>
        </a:p>
      </dgm:t>
    </dgm:pt>
    <dgm:pt modelId="{E9829A7F-1BE5-47B2-BC7A-A2910E2134C7}">
      <dgm:prSet/>
      <dgm:spPr/>
      <dgm:t>
        <a:bodyPr/>
        <a:lstStyle/>
        <a:p>
          <a:r>
            <a:rPr lang="en-US" dirty="0"/>
            <a:t>Average Loan Amount: 26.18K</a:t>
          </a:r>
        </a:p>
      </dgm:t>
    </dgm:pt>
    <dgm:pt modelId="{5CC97B60-F30D-4800-8F5A-601B2D1EE736}" type="parTrans" cxnId="{D68AA447-7AC1-4301-BC6F-ED9CF87D0103}">
      <dgm:prSet/>
      <dgm:spPr/>
      <dgm:t>
        <a:bodyPr/>
        <a:lstStyle/>
        <a:p>
          <a:endParaRPr lang="en-US"/>
        </a:p>
      </dgm:t>
    </dgm:pt>
    <dgm:pt modelId="{1AB14101-0820-412D-B178-FFC88791F609}" type="sibTrans" cxnId="{D68AA447-7AC1-4301-BC6F-ED9CF87D0103}">
      <dgm:prSet/>
      <dgm:spPr/>
      <dgm:t>
        <a:bodyPr/>
        <a:lstStyle/>
        <a:p>
          <a:endParaRPr lang="en-US"/>
        </a:p>
      </dgm:t>
    </dgm:pt>
    <dgm:pt modelId="{D9CEF3CE-1420-4958-9324-B63D312C130B}">
      <dgm:prSet/>
      <dgm:spPr/>
      <dgm:t>
        <a:bodyPr/>
        <a:lstStyle/>
        <a:p>
          <a:r>
            <a:rPr lang="en-US" dirty="0"/>
            <a:t>Total Repayment Collect: 54M</a:t>
          </a:r>
        </a:p>
      </dgm:t>
    </dgm:pt>
    <dgm:pt modelId="{1E5E2737-5F54-40E7-A698-EADCB8676F2A}" type="parTrans" cxnId="{6D1C9CEF-D678-4A58-9053-8B3575AAA457}">
      <dgm:prSet/>
      <dgm:spPr/>
      <dgm:t>
        <a:bodyPr/>
        <a:lstStyle/>
        <a:p>
          <a:endParaRPr lang="en-US"/>
        </a:p>
      </dgm:t>
    </dgm:pt>
    <dgm:pt modelId="{FC4237AB-5851-49AB-AE2D-A93A6BBE8C8E}" type="sibTrans" cxnId="{6D1C9CEF-D678-4A58-9053-8B3575AAA457}">
      <dgm:prSet/>
      <dgm:spPr/>
      <dgm:t>
        <a:bodyPr/>
        <a:lstStyle/>
        <a:p>
          <a:endParaRPr lang="en-US"/>
        </a:p>
      </dgm:t>
    </dgm:pt>
    <dgm:pt modelId="{FE367DFD-D796-40C9-887B-84E54776A09A}" type="pres">
      <dgm:prSet presAssocID="{44F721CC-7776-461E-8995-1DFE213B856A}" presName="Name0" presStyleCnt="0">
        <dgm:presLayoutVars>
          <dgm:dir/>
          <dgm:animLvl val="lvl"/>
          <dgm:resizeHandles val="exact"/>
        </dgm:presLayoutVars>
      </dgm:prSet>
      <dgm:spPr/>
    </dgm:pt>
    <dgm:pt modelId="{F769332C-1712-48AD-90E4-91C64CAC636B}" type="pres">
      <dgm:prSet presAssocID="{D9CEF3CE-1420-4958-9324-B63D312C130B}" presName="boxAndChildren" presStyleCnt="0"/>
      <dgm:spPr/>
    </dgm:pt>
    <dgm:pt modelId="{8660EC7C-5EC2-4799-9117-7075DF5E7893}" type="pres">
      <dgm:prSet presAssocID="{D9CEF3CE-1420-4958-9324-B63D312C130B}" presName="parentTextBox" presStyleLbl="node1" presStyleIdx="0" presStyleCnt="4"/>
      <dgm:spPr/>
    </dgm:pt>
    <dgm:pt modelId="{2C0D7166-0338-4AB1-A74A-2AA8B60F393E}" type="pres">
      <dgm:prSet presAssocID="{1AB14101-0820-412D-B178-FFC88791F609}" presName="sp" presStyleCnt="0"/>
      <dgm:spPr/>
    </dgm:pt>
    <dgm:pt modelId="{F9EABBFA-0428-4983-B0B8-DA94A823BAEC}" type="pres">
      <dgm:prSet presAssocID="{E9829A7F-1BE5-47B2-BC7A-A2910E2134C7}" presName="arrowAndChildren" presStyleCnt="0"/>
      <dgm:spPr/>
    </dgm:pt>
    <dgm:pt modelId="{7B3351B5-2A2F-45A9-A727-6051E20CD7BF}" type="pres">
      <dgm:prSet presAssocID="{E9829A7F-1BE5-47B2-BC7A-A2910E2134C7}" presName="parentTextArrow" presStyleLbl="node1" presStyleIdx="1" presStyleCnt="4"/>
      <dgm:spPr/>
    </dgm:pt>
    <dgm:pt modelId="{FEACA1DD-50E7-4152-AFF9-85324967D692}" type="pres">
      <dgm:prSet presAssocID="{21C02A8C-6330-410C-A82A-F1AB80771AD1}" presName="sp" presStyleCnt="0"/>
      <dgm:spPr/>
    </dgm:pt>
    <dgm:pt modelId="{BC8272A0-ED26-4C7E-8DE3-7AD69278838B}" type="pres">
      <dgm:prSet presAssocID="{0C35CEE0-E585-470B-B6C5-C7EF38868E15}" presName="arrowAndChildren" presStyleCnt="0"/>
      <dgm:spPr/>
    </dgm:pt>
    <dgm:pt modelId="{F9E6E2AD-8187-4A5C-B766-64559E1EE52C}" type="pres">
      <dgm:prSet presAssocID="{0C35CEE0-E585-470B-B6C5-C7EF38868E15}" presName="parentTextArrow" presStyleLbl="node1" presStyleIdx="2" presStyleCnt="4"/>
      <dgm:spPr/>
    </dgm:pt>
    <dgm:pt modelId="{516CE66D-28EC-4FF1-82AF-C87E974F3D12}" type="pres">
      <dgm:prSet presAssocID="{310DD45C-3A9C-4AAC-8E60-8344B146681E}" presName="sp" presStyleCnt="0"/>
      <dgm:spPr/>
    </dgm:pt>
    <dgm:pt modelId="{D24EB8B7-02DE-4839-884E-94D3188EB9E5}" type="pres">
      <dgm:prSet presAssocID="{91BB8169-EC7A-4E6C-AE64-E04C84E9FF51}" presName="arrowAndChildren" presStyleCnt="0"/>
      <dgm:spPr/>
    </dgm:pt>
    <dgm:pt modelId="{1E4B9474-91D8-475E-B1B1-6C1D180100C1}" type="pres">
      <dgm:prSet presAssocID="{91BB8169-EC7A-4E6C-AE64-E04C84E9FF51}" presName="parentTextArrow" presStyleLbl="node1" presStyleIdx="3" presStyleCnt="4"/>
      <dgm:spPr/>
    </dgm:pt>
  </dgm:ptLst>
  <dgm:cxnLst>
    <dgm:cxn modelId="{37472966-8504-4A4B-9B2B-6E58CB68919A}" type="presOf" srcId="{44F721CC-7776-461E-8995-1DFE213B856A}" destId="{FE367DFD-D796-40C9-887B-84E54776A09A}" srcOrd="0" destOrd="0" presId="urn:microsoft.com/office/officeart/2005/8/layout/process4"/>
    <dgm:cxn modelId="{378B9266-F703-4A44-8C78-59A1E0BC6956}" srcId="{44F721CC-7776-461E-8995-1DFE213B856A}" destId="{0C35CEE0-E585-470B-B6C5-C7EF38868E15}" srcOrd="1" destOrd="0" parTransId="{2FD2B753-1885-4E26-BA29-0859F37A8A03}" sibTransId="{21C02A8C-6330-410C-A82A-F1AB80771AD1}"/>
    <dgm:cxn modelId="{D68AA447-7AC1-4301-BC6F-ED9CF87D0103}" srcId="{44F721CC-7776-461E-8995-1DFE213B856A}" destId="{E9829A7F-1BE5-47B2-BC7A-A2910E2134C7}" srcOrd="2" destOrd="0" parTransId="{5CC97B60-F30D-4800-8F5A-601B2D1EE736}" sibTransId="{1AB14101-0820-412D-B178-FFC88791F609}"/>
    <dgm:cxn modelId="{96D31382-8A64-4104-8881-EE6710C586F6}" srcId="{44F721CC-7776-461E-8995-1DFE213B856A}" destId="{91BB8169-EC7A-4E6C-AE64-E04C84E9FF51}" srcOrd="0" destOrd="0" parTransId="{4B76807E-1024-44DC-81AA-AC46FFB9B184}" sibTransId="{310DD45C-3A9C-4AAC-8E60-8344B146681E}"/>
    <dgm:cxn modelId="{E28A1990-8A76-415E-80FB-DD49DB52DA5B}" type="presOf" srcId="{91BB8169-EC7A-4E6C-AE64-E04C84E9FF51}" destId="{1E4B9474-91D8-475E-B1B1-6C1D180100C1}" srcOrd="0" destOrd="0" presId="urn:microsoft.com/office/officeart/2005/8/layout/process4"/>
    <dgm:cxn modelId="{F80674C2-D5E0-4466-84F1-6EB6A10A563A}" type="presOf" srcId="{E9829A7F-1BE5-47B2-BC7A-A2910E2134C7}" destId="{7B3351B5-2A2F-45A9-A727-6051E20CD7BF}" srcOrd="0" destOrd="0" presId="urn:microsoft.com/office/officeart/2005/8/layout/process4"/>
    <dgm:cxn modelId="{8E2CD0E6-A6FC-40D4-A23E-662BDC235461}" type="presOf" srcId="{D9CEF3CE-1420-4958-9324-B63D312C130B}" destId="{8660EC7C-5EC2-4799-9117-7075DF5E7893}" srcOrd="0" destOrd="0" presId="urn:microsoft.com/office/officeart/2005/8/layout/process4"/>
    <dgm:cxn modelId="{6D1C9CEF-D678-4A58-9053-8B3575AAA457}" srcId="{44F721CC-7776-461E-8995-1DFE213B856A}" destId="{D9CEF3CE-1420-4958-9324-B63D312C130B}" srcOrd="3" destOrd="0" parTransId="{1E5E2737-5F54-40E7-A698-EADCB8676F2A}" sibTransId="{FC4237AB-5851-49AB-AE2D-A93A6BBE8C8E}"/>
    <dgm:cxn modelId="{AD05D8FA-56D1-42C6-BDF4-473E2BBE12F9}" type="presOf" srcId="{0C35CEE0-E585-470B-B6C5-C7EF38868E15}" destId="{F9E6E2AD-8187-4A5C-B766-64559E1EE52C}" srcOrd="0" destOrd="0" presId="urn:microsoft.com/office/officeart/2005/8/layout/process4"/>
    <dgm:cxn modelId="{0FC65B4D-557E-4830-BF94-9C2390D3D834}" type="presParOf" srcId="{FE367DFD-D796-40C9-887B-84E54776A09A}" destId="{F769332C-1712-48AD-90E4-91C64CAC636B}" srcOrd="0" destOrd="0" presId="urn:microsoft.com/office/officeart/2005/8/layout/process4"/>
    <dgm:cxn modelId="{3DB44FCB-E8D0-45E6-B108-43990C76B704}" type="presParOf" srcId="{F769332C-1712-48AD-90E4-91C64CAC636B}" destId="{8660EC7C-5EC2-4799-9117-7075DF5E7893}" srcOrd="0" destOrd="0" presId="urn:microsoft.com/office/officeart/2005/8/layout/process4"/>
    <dgm:cxn modelId="{4DFB8FED-A96F-4486-A978-241CB0E18972}" type="presParOf" srcId="{FE367DFD-D796-40C9-887B-84E54776A09A}" destId="{2C0D7166-0338-4AB1-A74A-2AA8B60F393E}" srcOrd="1" destOrd="0" presId="urn:microsoft.com/office/officeart/2005/8/layout/process4"/>
    <dgm:cxn modelId="{CF298532-8093-4695-A178-C70085CBA071}" type="presParOf" srcId="{FE367DFD-D796-40C9-887B-84E54776A09A}" destId="{F9EABBFA-0428-4983-B0B8-DA94A823BAEC}" srcOrd="2" destOrd="0" presId="urn:microsoft.com/office/officeart/2005/8/layout/process4"/>
    <dgm:cxn modelId="{91F318DC-0165-4C0C-9862-6BDF042DA330}" type="presParOf" srcId="{F9EABBFA-0428-4983-B0B8-DA94A823BAEC}" destId="{7B3351B5-2A2F-45A9-A727-6051E20CD7BF}" srcOrd="0" destOrd="0" presId="urn:microsoft.com/office/officeart/2005/8/layout/process4"/>
    <dgm:cxn modelId="{D6A45973-77B1-480A-8AC8-0D76741DD4C6}" type="presParOf" srcId="{FE367DFD-D796-40C9-887B-84E54776A09A}" destId="{FEACA1DD-50E7-4152-AFF9-85324967D692}" srcOrd="3" destOrd="0" presId="urn:microsoft.com/office/officeart/2005/8/layout/process4"/>
    <dgm:cxn modelId="{FC323F94-5639-42C4-8CCC-6277610985CD}" type="presParOf" srcId="{FE367DFD-D796-40C9-887B-84E54776A09A}" destId="{BC8272A0-ED26-4C7E-8DE3-7AD69278838B}" srcOrd="4" destOrd="0" presId="urn:microsoft.com/office/officeart/2005/8/layout/process4"/>
    <dgm:cxn modelId="{2E13E953-A8B9-48FD-B139-822A4A7E510F}" type="presParOf" srcId="{BC8272A0-ED26-4C7E-8DE3-7AD69278838B}" destId="{F9E6E2AD-8187-4A5C-B766-64559E1EE52C}" srcOrd="0" destOrd="0" presId="urn:microsoft.com/office/officeart/2005/8/layout/process4"/>
    <dgm:cxn modelId="{888EF5CB-06B8-4217-915F-9FBB11CDFCE6}" type="presParOf" srcId="{FE367DFD-D796-40C9-887B-84E54776A09A}" destId="{516CE66D-28EC-4FF1-82AF-C87E974F3D12}" srcOrd="5" destOrd="0" presId="urn:microsoft.com/office/officeart/2005/8/layout/process4"/>
    <dgm:cxn modelId="{A40CA0E9-E1E6-470A-AC52-333CC76BFE2F}" type="presParOf" srcId="{FE367DFD-D796-40C9-887B-84E54776A09A}" destId="{D24EB8B7-02DE-4839-884E-94D3188EB9E5}" srcOrd="6" destOrd="0" presId="urn:microsoft.com/office/officeart/2005/8/layout/process4"/>
    <dgm:cxn modelId="{9378368C-9D1C-41EF-A5D3-94A665658783}" type="presParOf" srcId="{D24EB8B7-02DE-4839-884E-94D3188EB9E5}" destId="{1E4B9474-91D8-475E-B1B1-6C1D180100C1}"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151FFE9-602B-4B1F-BD5B-D506579EEB53}"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E392BBD-0B57-4D6B-A442-C7918C258322}">
      <dgm:prSet/>
      <dgm:spPr/>
      <dgm:t>
        <a:bodyPr/>
        <a:lstStyle/>
        <a:p>
          <a:pPr>
            <a:lnSpc>
              <a:spcPct val="100000"/>
            </a:lnSpc>
          </a:pPr>
          <a:r>
            <a:rPr lang="en-US" dirty="0"/>
            <a:t>Total Transactions: 100,000 | Unique Customers: 100,000 | Banks: 6 | Branches: 6</a:t>
          </a:r>
        </a:p>
      </dgm:t>
    </dgm:pt>
    <dgm:pt modelId="{57FE04EC-6CF0-4851-BFAE-DA2774A49531}" type="parTrans" cxnId="{0B376D0A-2BA3-4326-911A-0A2132527560}">
      <dgm:prSet/>
      <dgm:spPr/>
      <dgm:t>
        <a:bodyPr/>
        <a:lstStyle/>
        <a:p>
          <a:endParaRPr lang="en-US"/>
        </a:p>
      </dgm:t>
    </dgm:pt>
    <dgm:pt modelId="{F13F45EC-41DA-4D29-8629-928082180D67}" type="sibTrans" cxnId="{0B376D0A-2BA3-4326-911A-0A2132527560}">
      <dgm:prSet/>
      <dgm:spPr/>
      <dgm:t>
        <a:bodyPr/>
        <a:lstStyle/>
        <a:p>
          <a:pPr>
            <a:lnSpc>
              <a:spcPct val="100000"/>
            </a:lnSpc>
          </a:pPr>
          <a:endParaRPr lang="en-US"/>
        </a:p>
      </dgm:t>
    </dgm:pt>
    <dgm:pt modelId="{797D86C7-F08E-4350-BEB2-79CF8170F34A}">
      <dgm:prSet/>
      <dgm:spPr/>
      <dgm:t>
        <a:bodyPr/>
        <a:lstStyle/>
        <a:p>
          <a:pPr>
            <a:lnSpc>
              <a:spcPct val="100000"/>
            </a:lnSpc>
          </a:pPr>
          <a:r>
            <a:rPr lang="en-US" dirty="0"/>
            <a:t>Total funded amount: ₹5,23,61,094| Total loan Disbursed: ₹5,23,61,121| On time repayments%: 71.05% </a:t>
          </a:r>
        </a:p>
      </dgm:t>
    </dgm:pt>
    <dgm:pt modelId="{F5056416-0F4B-4E71-9EE9-8BF66F4EC1E8}" type="parTrans" cxnId="{8D7BE129-43D0-4229-B8FE-3EEBD8EC352E}">
      <dgm:prSet/>
      <dgm:spPr/>
      <dgm:t>
        <a:bodyPr/>
        <a:lstStyle/>
        <a:p>
          <a:endParaRPr lang="en-US"/>
        </a:p>
      </dgm:t>
    </dgm:pt>
    <dgm:pt modelId="{CADCE427-658D-4AA4-BC05-F12EE65D4D0F}" type="sibTrans" cxnId="{8D7BE129-43D0-4229-B8FE-3EEBD8EC352E}">
      <dgm:prSet/>
      <dgm:spPr/>
      <dgm:t>
        <a:bodyPr/>
        <a:lstStyle/>
        <a:p>
          <a:pPr>
            <a:lnSpc>
              <a:spcPct val="100000"/>
            </a:lnSpc>
          </a:pPr>
          <a:endParaRPr lang="en-US"/>
        </a:p>
      </dgm:t>
    </dgm:pt>
    <dgm:pt modelId="{6E5DD060-EE49-4006-94AF-911442EC2923}">
      <dgm:prSet/>
      <dgm:spPr/>
      <dgm:t>
        <a:bodyPr/>
        <a:lstStyle/>
        <a:p>
          <a:pPr>
            <a:lnSpc>
              <a:spcPct val="100000"/>
            </a:lnSpc>
          </a:pPr>
          <a:r>
            <a:rPr lang="en-US" dirty="0"/>
            <a:t>Average Loan Amount: ₹26.18K| </a:t>
          </a:r>
        </a:p>
      </dgm:t>
    </dgm:pt>
    <dgm:pt modelId="{5F9D8D3F-C64F-49A0-88D8-26F396DA46C8}" type="parTrans" cxnId="{C96D7E40-EEC6-4494-841D-E630D0467007}">
      <dgm:prSet/>
      <dgm:spPr/>
      <dgm:t>
        <a:bodyPr/>
        <a:lstStyle/>
        <a:p>
          <a:endParaRPr lang="en-US"/>
        </a:p>
      </dgm:t>
    </dgm:pt>
    <dgm:pt modelId="{15234291-ED19-4936-89A2-E0A6DB0692AC}" type="sibTrans" cxnId="{C96D7E40-EEC6-4494-841D-E630D0467007}">
      <dgm:prSet/>
      <dgm:spPr/>
      <dgm:t>
        <a:bodyPr/>
        <a:lstStyle/>
        <a:p>
          <a:pPr>
            <a:lnSpc>
              <a:spcPct val="100000"/>
            </a:lnSpc>
          </a:pPr>
          <a:endParaRPr lang="en-US"/>
        </a:p>
      </dgm:t>
    </dgm:pt>
    <dgm:pt modelId="{1ADF32D5-9DAF-470C-A83E-70489BD1F934}">
      <dgm:prSet/>
      <dgm:spPr/>
      <dgm:t>
        <a:bodyPr/>
        <a:lstStyle/>
        <a:p>
          <a:pPr>
            <a:lnSpc>
              <a:spcPct val="100000"/>
            </a:lnSpc>
          </a:pPr>
          <a:r>
            <a:rPr lang="en-US" dirty="0"/>
            <a:t>Best Branches (Net Loan Flow): East Branch, Suburban Branch, North Branch</a:t>
          </a:r>
        </a:p>
      </dgm:t>
    </dgm:pt>
    <dgm:pt modelId="{57989200-8783-43CC-ABFA-1E486A1874A6}" type="parTrans" cxnId="{EFF02D03-0E98-4863-84A1-4502F73F11F2}">
      <dgm:prSet/>
      <dgm:spPr/>
      <dgm:t>
        <a:bodyPr/>
        <a:lstStyle/>
        <a:p>
          <a:endParaRPr lang="en-US"/>
        </a:p>
      </dgm:t>
    </dgm:pt>
    <dgm:pt modelId="{F1D04625-BB32-447A-9BA4-0FE690D9D384}" type="sibTrans" cxnId="{EFF02D03-0E98-4863-84A1-4502F73F11F2}">
      <dgm:prSet/>
      <dgm:spPr/>
      <dgm:t>
        <a:bodyPr/>
        <a:lstStyle/>
        <a:p>
          <a:pPr>
            <a:lnSpc>
              <a:spcPct val="100000"/>
            </a:lnSpc>
          </a:pPr>
          <a:endParaRPr lang="en-US"/>
        </a:p>
      </dgm:t>
    </dgm:pt>
    <dgm:pt modelId="{7513BB89-361E-4887-8454-A13F38C32A20}">
      <dgm:prSet/>
      <dgm:spPr/>
      <dgm:t>
        <a:bodyPr/>
        <a:lstStyle/>
        <a:p>
          <a:pPr>
            <a:lnSpc>
              <a:spcPct val="100000"/>
            </a:lnSpc>
          </a:pPr>
          <a:r>
            <a:rPr lang="en-US" dirty="0"/>
            <a:t>Top Loan Distributed by branch: Sangrur Branch, Dhuri branch, </a:t>
          </a:r>
          <a:r>
            <a:rPr lang="en-US"/>
            <a:t>Bulandshah</a:t>
          </a:r>
          <a:r>
            <a:rPr lang="en-US" dirty="0"/>
            <a:t> Branch., </a:t>
          </a:r>
        </a:p>
      </dgm:t>
    </dgm:pt>
    <dgm:pt modelId="{8F00D6B3-ED76-434C-B58C-5AE71B3261CB}" type="parTrans" cxnId="{CE603541-A58F-4DE1-B883-C1FE925EC083}">
      <dgm:prSet/>
      <dgm:spPr/>
      <dgm:t>
        <a:bodyPr/>
        <a:lstStyle/>
        <a:p>
          <a:endParaRPr lang="en-US"/>
        </a:p>
      </dgm:t>
    </dgm:pt>
    <dgm:pt modelId="{0E61D562-257A-44A5-BC57-B25D18BEC2DD}" type="sibTrans" cxnId="{CE603541-A58F-4DE1-B883-C1FE925EC083}">
      <dgm:prSet/>
      <dgm:spPr/>
      <dgm:t>
        <a:bodyPr/>
        <a:lstStyle/>
        <a:p>
          <a:pPr>
            <a:lnSpc>
              <a:spcPct val="100000"/>
            </a:lnSpc>
          </a:pPr>
          <a:endParaRPr lang="en-US"/>
        </a:p>
      </dgm:t>
    </dgm:pt>
    <dgm:pt modelId="{F355562C-1874-48F1-8499-FEFD4E7FD104}">
      <dgm:prSet/>
      <dgm:spPr/>
      <dgm:t>
        <a:bodyPr/>
        <a:lstStyle/>
        <a:p>
          <a:pPr>
            <a:lnSpc>
              <a:spcPct val="100000"/>
            </a:lnSpc>
          </a:pPr>
          <a:r>
            <a:rPr lang="en-US"/>
            <a:t>Credit outpaces Debit in most months; monitor months with debit spikes.</a:t>
          </a:r>
        </a:p>
      </dgm:t>
    </dgm:pt>
    <dgm:pt modelId="{C271C136-ECA2-4139-9BAB-AFED9192DDE2}" type="parTrans" cxnId="{7366C43D-BA93-4ACC-8881-9B234DAAE9E0}">
      <dgm:prSet/>
      <dgm:spPr/>
      <dgm:t>
        <a:bodyPr/>
        <a:lstStyle/>
        <a:p>
          <a:endParaRPr lang="en-US"/>
        </a:p>
      </dgm:t>
    </dgm:pt>
    <dgm:pt modelId="{8AFAE43C-382D-4305-908D-2E668E9574B7}" type="sibTrans" cxnId="{7366C43D-BA93-4ACC-8881-9B234DAAE9E0}">
      <dgm:prSet/>
      <dgm:spPr/>
      <dgm:t>
        <a:bodyPr/>
        <a:lstStyle/>
        <a:p>
          <a:pPr>
            <a:lnSpc>
              <a:spcPct val="100000"/>
            </a:lnSpc>
          </a:pPr>
          <a:endParaRPr lang="en-US"/>
        </a:p>
      </dgm:t>
    </dgm:pt>
    <dgm:pt modelId="{A2A9911F-AB89-48B4-BAB5-FBA43E4DED5C}">
      <dgm:prSet/>
      <dgm:spPr/>
      <dgm:t>
        <a:bodyPr/>
        <a:lstStyle/>
        <a:p>
          <a:pPr>
            <a:lnSpc>
              <a:spcPct val="100000"/>
            </a:lnSpc>
          </a:pPr>
          <a:r>
            <a:rPr lang="en-US"/>
            <a:t>Transaction methods show concentration—optimize offers/UX for top-used methods.</a:t>
          </a:r>
        </a:p>
      </dgm:t>
    </dgm:pt>
    <dgm:pt modelId="{3276996D-BD68-4A1F-A30D-D7AE4B2E9479}" type="parTrans" cxnId="{0DE02CBA-B720-41C2-B33B-ED2B6BAB3C31}">
      <dgm:prSet/>
      <dgm:spPr/>
      <dgm:t>
        <a:bodyPr/>
        <a:lstStyle/>
        <a:p>
          <a:endParaRPr lang="en-US"/>
        </a:p>
      </dgm:t>
    </dgm:pt>
    <dgm:pt modelId="{84A4B725-3916-41F6-9499-2B2A2DCCCE34}" type="sibTrans" cxnId="{0DE02CBA-B720-41C2-B33B-ED2B6BAB3C31}">
      <dgm:prSet/>
      <dgm:spPr/>
      <dgm:t>
        <a:bodyPr/>
        <a:lstStyle/>
        <a:p>
          <a:pPr>
            <a:lnSpc>
              <a:spcPct val="100000"/>
            </a:lnSpc>
          </a:pPr>
          <a:endParaRPr lang="en-US"/>
        </a:p>
      </dgm:t>
    </dgm:pt>
    <dgm:pt modelId="{9767ACDE-AE1E-461A-A7CE-6EC107472E58}">
      <dgm:prSet/>
      <dgm:spPr/>
      <dgm:t>
        <a:bodyPr/>
        <a:lstStyle/>
        <a:p>
          <a:pPr>
            <a:lnSpc>
              <a:spcPct val="100000"/>
            </a:lnSpc>
          </a:pPr>
          <a:r>
            <a:rPr lang="en-US"/>
            <a:t>Banks with the highest totals can be prioritized for cross-sell and partnerships.</a:t>
          </a:r>
        </a:p>
      </dgm:t>
    </dgm:pt>
    <dgm:pt modelId="{BBAEFD70-BB2F-4254-AB73-9FF716A86A57}" type="parTrans" cxnId="{DB08A90F-BD0D-43D4-BE36-2B472E838D0B}">
      <dgm:prSet/>
      <dgm:spPr/>
      <dgm:t>
        <a:bodyPr/>
        <a:lstStyle/>
        <a:p>
          <a:endParaRPr lang="en-US"/>
        </a:p>
      </dgm:t>
    </dgm:pt>
    <dgm:pt modelId="{74123EFD-8268-4DA4-A21C-91688F505088}" type="sibTrans" cxnId="{DB08A90F-BD0D-43D4-BE36-2B472E838D0B}">
      <dgm:prSet/>
      <dgm:spPr/>
      <dgm:t>
        <a:bodyPr/>
        <a:lstStyle/>
        <a:p>
          <a:endParaRPr lang="en-US"/>
        </a:p>
      </dgm:t>
    </dgm:pt>
    <dgm:pt modelId="{23E5EBFB-FFB0-4814-B579-7BDF6638E134}" type="pres">
      <dgm:prSet presAssocID="{7151FFE9-602B-4B1F-BD5B-D506579EEB53}" presName="root" presStyleCnt="0">
        <dgm:presLayoutVars>
          <dgm:dir/>
          <dgm:resizeHandles val="exact"/>
        </dgm:presLayoutVars>
      </dgm:prSet>
      <dgm:spPr/>
    </dgm:pt>
    <dgm:pt modelId="{862C95DA-768C-4458-8999-E53D43886043}" type="pres">
      <dgm:prSet presAssocID="{7151FFE9-602B-4B1F-BD5B-D506579EEB53}" presName="container" presStyleCnt="0">
        <dgm:presLayoutVars>
          <dgm:dir/>
          <dgm:resizeHandles val="exact"/>
        </dgm:presLayoutVars>
      </dgm:prSet>
      <dgm:spPr/>
    </dgm:pt>
    <dgm:pt modelId="{89A7D06A-518C-44F2-BAB7-2EAA8C33C7D4}" type="pres">
      <dgm:prSet presAssocID="{BE392BBD-0B57-4D6B-A442-C7918C258322}" presName="compNode" presStyleCnt="0"/>
      <dgm:spPr/>
    </dgm:pt>
    <dgm:pt modelId="{311C16B6-6C25-4926-9174-79CCAEA4C781}" type="pres">
      <dgm:prSet presAssocID="{BE392BBD-0B57-4D6B-A442-C7918C258322}" presName="iconBgRect" presStyleLbl="bgShp" presStyleIdx="0" presStyleCnt="8"/>
      <dgm:spPr/>
    </dgm:pt>
    <dgm:pt modelId="{8D52807F-933C-46BB-856D-65F85704547D}" type="pres">
      <dgm:prSet presAssocID="{BE392BBD-0B57-4D6B-A442-C7918C258322}"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a:ext>
      </dgm:extLst>
    </dgm:pt>
    <dgm:pt modelId="{DF824DC6-DA33-4DC4-9A32-386F99E12987}" type="pres">
      <dgm:prSet presAssocID="{BE392BBD-0B57-4D6B-A442-C7918C258322}" presName="spaceRect" presStyleCnt="0"/>
      <dgm:spPr/>
    </dgm:pt>
    <dgm:pt modelId="{AF9D5BA3-BDE2-4E39-9BE5-65BA74C995A5}" type="pres">
      <dgm:prSet presAssocID="{BE392BBD-0B57-4D6B-A442-C7918C258322}" presName="textRect" presStyleLbl="revTx" presStyleIdx="0" presStyleCnt="8">
        <dgm:presLayoutVars>
          <dgm:chMax val="1"/>
          <dgm:chPref val="1"/>
        </dgm:presLayoutVars>
      </dgm:prSet>
      <dgm:spPr/>
    </dgm:pt>
    <dgm:pt modelId="{A7F497D0-B88A-4C53-9392-E4F9983E4FC0}" type="pres">
      <dgm:prSet presAssocID="{F13F45EC-41DA-4D29-8629-928082180D67}" presName="sibTrans" presStyleLbl="sibTrans2D1" presStyleIdx="0" presStyleCnt="0"/>
      <dgm:spPr/>
    </dgm:pt>
    <dgm:pt modelId="{6DFD547D-BBE1-4439-9447-089525FBAC72}" type="pres">
      <dgm:prSet presAssocID="{797D86C7-F08E-4350-BEB2-79CF8170F34A}" presName="compNode" presStyleCnt="0"/>
      <dgm:spPr/>
    </dgm:pt>
    <dgm:pt modelId="{019FC5B8-0F10-4261-B4E8-A83EA8639FCC}" type="pres">
      <dgm:prSet presAssocID="{797D86C7-F08E-4350-BEB2-79CF8170F34A}" presName="iconBgRect" presStyleLbl="bgShp" presStyleIdx="1" presStyleCnt="8" custLinFactNeighborX="-25597"/>
      <dgm:spPr/>
    </dgm:pt>
    <dgm:pt modelId="{08C67DF3-AD6E-4370-B349-75287EF184D9}" type="pres">
      <dgm:prSet presAssocID="{797D86C7-F08E-4350-BEB2-79CF8170F34A}"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498B678C-8477-4F52-BD24-77B217B88A8A}" type="pres">
      <dgm:prSet presAssocID="{797D86C7-F08E-4350-BEB2-79CF8170F34A}" presName="spaceRect" presStyleCnt="0"/>
      <dgm:spPr/>
    </dgm:pt>
    <dgm:pt modelId="{A641B86A-CD97-4863-A0FE-649F983CDA7F}" type="pres">
      <dgm:prSet presAssocID="{797D86C7-F08E-4350-BEB2-79CF8170F34A}" presName="textRect" presStyleLbl="revTx" presStyleIdx="1" presStyleCnt="8" custScaleX="129148">
        <dgm:presLayoutVars>
          <dgm:chMax val="1"/>
          <dgm:chPref val="1"/>
        </dgm:presLayoutVars>
      </dgm:prSet>
      <dgm:spPr/>
    </dgm:pt>
    <dgm:pt modelId="{0CE03D06-ECB9-45D3-B7C6-0216E941BA91}" type="pres">
      <dgm:prSet presAssocID="{CADCE427-658D-4AA4-BC05-F12EE65D4D0F}" presName="sibTrans" presStyleLbl="sibTrans2D1" presStyleIdx="0" presStyleCnt="0"/>
      <dgm:spPr/>
    </dgm:pt>
    <dgm:pt modelId="{AF17089B-A7FF-47BC-A65E-2B75FFC9232A}" type="pres">
      <dgm:prSet presAssocID="{6E5DD060-EE49-4006-94AF-911442EC2923}" presName="compNode" presStyleCnt="0"/>
      <dgm:spPr/>
    </dgm:pt>
    <dgm:pt modelId="{AEECC3D6-C51A-49A7-A835-28F5D9B1AD1D}" type="pres">
      <dgm:prSet presAssocID="{6E5DD060-EE49-4006-94AF-911442EC2923}" presName="iconBgRect" presStyleLbl="bgShp" presStyleIdx="2" presStyleCnt="8"/>
      <dgm:spPr/>
    </dgm:pt>
    <dgm:pt modelId="{F56774CF-7085-4A4A-BBD1-70C5F65CBE32}" type="pres">
      <dgm:prSet presAssocID="{6E5DD060-EE49-4006-94AF-911442EC2923}"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llar"/>
        </a:ext>
      </dgm:extLst>
    </dgm:pt>
    <dgm:pt modelId="{E4B70C64-FD31-423B-8B4F-F038B62CDC5D}" type="pres">
      <dgm:prSet presAssocID="{6E5DD060-EE49-4006-94AF-911442EC2923}" presName="spaceRect" presStyleCnt="0"/>
      <dgm:spPr/>
    </dgm:pt>
    <dgm:pt modelId="{6BBBF93A-B829-4F83-9A24-2883F54FB012}" type="pres">
      <dgm:prSet presAssocID="{6E5DD060-EE49-4006-94AF-911442EC2923}" presName="textRect" presStyleLbl="revTx" presStyleIdx="2" presStyleCnt="8">
        <dgm:presLayoutVars>
          <dgm:chMax val="1"/>
          <dgm:chPref val="1"/>
        </dgm:presLayoutVars>
      </dgm:prSet>
      <dgm:spPr/>
    </dgm:pt>
    <dgm:pt modelId="{0B8A0975-A252-4D2A-8C74-E4F1321F09FD}" type="pres">
      <dgm:prSet presAssocID="{15234291-ED19-4936-89A2-E0A6DB0692AC}" presName="sibTrans" presStyleLbl="sibTrans2D1" presStyleIdx="0" presStyleCnt="0"/>
      <dgm:spPr/>
    </dgm:pt>
    <dgm:pt modelId="{DB3C1368-9109-4218-820E-2CB400CED9D1}" type="pres">
      <dgm:prSet presAssocID="{1ADF32D5-9DAF-470C-A83E-70489BD1F934}" presName="compNode" presStyleCnt="0"/>
      <dgm:spPr/>
    </dgm:pt>
    <dgm:pt modelId="{08F5CB67-2D62-499B-86A5-134B5BB69E4B}" type="pres">
      <dgm:prSet presAssocID="{1ADF32D5-9DAF-470C-A83E-70489BD1F934}" presName="iconBgRect" presStyleLbl="bgShp" presStyleIdx="3" presStyleCnt="8"/>
      <dgm:spPr/>
    </dgm:pt>
    <dgm:pt modelId="{BAE96A5A-A56B-44FB-8A64-C776B8A32EAC}" type="pres">
      <dgm:prSet presAssocID="{1ADF32D5-9DAF-470C-A83E-70489BD1F934}"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ranching Diagram"/>
        </a:ext>
      </dgm:extLst>
    </dgm:pt>
    <dgm:pt modelId="{BC27D8D4-7E55-4607-8EEF-2B3456240D8E}" type="pres">
      <dgm:prSet presAssocID="{1ADF32D5-9DAF-470C-A83E-70489BD1F934}" presName="spaceRect" presStyleCnt="0"/>
      <dgm:spPr/>
    </dgm:pt>
    <dgm:pt modelId="{E6EE367B-E57C-4408-9F35-97C4E35AA73C}" type="pres">
      <dgm:prSet presAssocID="{1ADF32D5-9DAF-470C-A83E-70489BD1F934}" presName="textRect" presStyleLbl="revTx" presStyleIdx="3" presStyleCnt="8">
        <dgm:presLayoutVars>
          <dgm:chMax val="1"/>
          <dgm:chPref val="1"/>
        </dgm:presLayoutVars>
      </dgm:prSet>
      <dgm:spPr/>
    </dgm:pt>
    <dgm:pt modelId="{9A129EEC-7519-4BDC-B561-8E8BB661181B}" type="pres">
      <dgm:prSet presAssocID="{F1D04625-BB32-447A-9BA4-0FE690D9D384}" presName="sibTrans" presStyleLbl="sibTrans2D1" presStyleIdx="0" presStyleCnt="0"/>
      <dgm:spPr/>
    </dgm:pt>
    <dgm:pt modelId="{7D66683D-BFE1-4C8E-8FDE-09F3A6017D8C}" type="pres">
      <dgm:prSet presAssocID="{7513BB89-361E-4887-8454-A13F38C32A20}" presName="compNode" presStyleCnt="0"/>
      <dgm:spPr/>
    </dgm:pt>
    <dgm:pt modelId="{A607491E-D42B-4766-AB7A-2C59D433AA71}" type="pres">
      <dgm:prSet presAssocID="{7513BB89-361E-4887-8454-A13F38C32A20}" presName="iconBgRect" presStyleLbl="bgShp" presStyleIdx="4" presStyleCnt="8"/>
      <dgm:spPr/>
    </dgm:pt>
    <dgm:pt modelId="{382C2A01-C936-4CCA-9ABF-1FD911CA674F}" type="pres">
      <dgm:prSet presAssocID="{7513BB89-361E-4887-8454-A13F38C32A20}"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Japanese Dolls"/>
        </a:ext>
      </dgm:extLst>
    </dgm:pt>
    <dgm:pt modelId="{91370941-CC9F-4A7A-81B1-6B6E6BA42F66}" type="pres">
      <dgm:prSet presAssocID="{7513BB89-361E-4887-8454-A13F38C32A20}" presName="spaceRect" presStyleCnt="0"/>
      <dgm:spPr/>
    </dgm:pt>
    <dgm:pt modelId="{B2345793-D981-48F1-ABFD-2D898BFD01C3}" type="pres">
      <dgm:prSet presAssocID="{7513BB89-361E-4887-8454-A13F38C32A20}" presName="textRect" presStyleLbl="revTx" presStyleIdx="4" presStyleCnt="8">
        <dgm:presLayoutVars>
          <dgm:chMax val="1"/>
          <dgm:chPref val="1"/>
        </dgm:presLayoutVars>
      </dgm:prSet>
      <dgm:spPr/>
    </dgm:pt>
    <dgm:pt modelId="{6DF688C4-DC4D-4D55-913E-A8F8F4808F3B}" type="pres">
      <dgm:prSet presAssocID="{0E61D562-257A-44A5-BC57-B25D18BEC2DD}" presName="sibTrans" presStyleLbl="sibTrans2D1" presStyleIdx="0" presStyleCnt="0"/>
      <dgm:spPr/>
    </dgm:pt>
    <dgm:pt modelId="{F148A9FB-7405-476F-A020-F9FB66587F2D}" type="pres">
      <dgm:prSet presAssocID="{F355562C-1874-48F1-8499-FEFD4E7FD104}" presName="compNode" presStyleCnt="0"/>
      <dgm:spPr/>
    </dgm:pt>
    <dgm:pt modelId="{B583DA8B-346D-4DF7-AAC5-596BADB5B34F}" type="pres">
      <dgm:prSet presAssocID="{F355562C-1874-48F1-8499-FEFD4E7FD104}" presName="iconBgRect" presStyleLbl="bgShp" presStyleIdx="5" presStyleCnt="8"/>
      <dgm:spPr/>
    </dgm:pt>
    <dgm:pt modelId="{28569559-3674-46DE-B2DF-4903F9025D5F}" type="pres">
      <dgm:prSet presAssocID="{F355562C-1874-48F1-8499-FEFD4E7FD104}"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Wallet"/>
        </a:ext>
      </dgm:extLst>
    </dgm:pt>
    <dgm:pt modelId="{448FD57D-E065-4AAC-91FD-DFB6C8DF252E}" type="pres">
      <dgm:prSet presAssocID="{F355562C-1874-48F1-8499-FEFD4E7FD104}" presName="spaceRect" presStyleCnt="0"/>
      <dgm:spPr/>
    </dgm:pt>
    <dgm:pt modelId="{69EBA89A-383F-4DF3-99D8-FB5B39A677D6}" type="pres">
      <dgm:prSet presAssocID="{F355562C-1874-48F1-8499-FEFD4E7FD104}" presName="textRect" presStyleLbl="revTx" presStyleIdx="5" presStyleCnt="8">
        <dgm:presLayoutVars>
          <dgm:chMax val="1"/>
          <dgm:chPref val="1"/>
        </dgm:presLayoutVars>
      </dgm:prSet>
      <dgm:spPr/>
    </dgm:pt>
    <dgm:pt modelId="{D3D7BC8D-4519-482D-BBAD-87A65803550A}" type="pres">
      <dgm:prSet presAssocID="{8AFAE43C-382D-4305-908D-2E668E9574B7}" presName="sibTrans" presStyleLbl="sibTrans2D1" presStyleIdx="0" presStyleCnt="0"/>
      <dgm:spPr/>
    </dgm:pt>
    <dgm:pt modelId="{30474FD8-22C9-4BD9-9882-B1FE89EAE31E}" type="pres">
      <dgm:prSet presAssocID="{A2A9911F-AB89-48B4-BAB5-FBA43E4DED5C}" presName="compNode" presStyleCnt="0"/>
      <dgm:spPr/>
    </dgm:pt>
    <dgm:pt modelId="{CC72C8B3-80C8-4EDD-A7F0-C560A47C5C89}" type="pres">
      <dgm:prSet presAssocID="{A2A9911F-AB89-48B4-BAB5-FBA43E4DED5C}" presName="iconBgRect" presStyleLbl="bgShp" presStyleIdx="6" presStyleCnt="8"/>
      <dgm:spPr/>
    </dgm:pt>
    <dgm:pt modelId="{EF0F24C9-36BA-4E09-AB96-877E55B66778}" type="pres">
      <dgm:prSet presAssocID="{A2A9911F-AB89-48B4-BAB5-FBA43E4DED5C}"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Gears"/>
        </a:ext>
      </dgm:extLst>
    </dgm:pt>
    <dgm:pt modelId="{FFB3FEC0-3AFB-4F4F-8E16-EF33B9E8637A}" type="pres">
      <dgm:prSet presAssocID="{A2A9911F-AB89-48B4-BAB5-FBA43E4DED5C}" presName="spaceRect" presStyleCnt="0"/>
      <dgm:spPr/>
    </dgm:pt>
    <dgm:pt modelId="{FCEF5E9B-0D92-4808-8F95-A9D4D4279F1A}" type="pres">
      <dgm:prSet presAssocID="{A2A9911F-AB89-48B4-BAB5-FBA43E4DED5C}" presName="textRect" presStyleLbl="revTx" presStyleIdx="6" presStyleCnt="8">
        <dgm:presLayoutVars>
          <dgm:chMax val="1"/>
          <dgm:chPref val="1"/>
        </dgm:presLayoutVars>
      </dgm:prSet>
      <dgm:spPr/>
    </dgm:pt>
    <dgm:pt modelId="{E926E751-2FA3-40E2-9500-86EEDA58ED6B}" type="pres">
      <dgm:prSet presAssocID="{84A4B725-3916-41F6-9499-2B2A2DCCCE34}" presName="sibTrans" presStyleLbl="sibTrans2D1" presStyleIdx="0" presStyleCnt="0"/>
      <dgm:spPr/>
    </dgm:pt>
    <dgm:pt modelId="{84A5D6E5-3CD1-457E-AAC6-7E23D1524580}" type="pres">
      <dgm:prSet presAssocID="{9767ACDE-AE1E-461A-A7CE-6EC107472E58}" presName="compNode" presStyleCnt="0"/>
      <dgm:spPr/>
    </dgm:pt>
    <dgm:pt modelId="{E72DF8D2-0744-4DB5-ADC7-760780D73D31}" type="pres">
      <dgm:prSet presAssocID="{9767ACDE-AE1E-461A-A7CE-6EC107472E58}" presName="iconBgRect" presStyleLbl="bgShp" presStyleIdx="7" presStyleCnt="8"/>
      <dgm:spPr/>
    </dgm:pt>
    <dgm:pt modelId="{8022255D-17CF-4C4B-AB43-82DF44369F42}" type="pres">
      <dgm:prSet presAssocID="{9767ACDE-AE1E-461A-A7CE-6EC107472E58}"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Piggy Bank"/>
        </a:ext>
      </dgm:extLst>
    </dgm:pt>
    <dgm:pt modelId="{1CDE91CD-614A-4DE6-8A75-5FB0BC06B285}" type="pres">
      <dgm:prSet presAssocID="{9767ACDE-AE1E-461A-A7CE-6EC107472E58}" presName="spaceRect" presStyleCnt="0"/>
      <dgm:spPr/>
    </dgm:pt>
    <dgm:pt modelId="{824E6749-0A42-4DE5-A29E-A6DCDBB3BF1C}" type="pres">
      <dgm:prSet presAssocID="{9767ACDE-AE1E-461A-A7CE-6EC107472E58}" presName="textRect" presStyleLbl="revTx" presStyleIdx="7" presStyleCnt="8">
        <dgm:presLayoutVars>
          <dgm:chMax val="1"/>
          <dgm:chPref val="1"/>
        </dgm:presLayoutVars>
      </dgm:prSet>
      <dgm:spPr/>
    </dgm:pt>
  </dgm:ptLst>
  <dgm:cxnLst>
    <dgm:cxn modelId="{47B14900-C3A2-4D05-A73A-24104EA96588}" type="presOf" srcId="{A2A9911F-AB89-48B4-BAB5-FBA43E4DED5C}" destId="{FCEF5E9B-0D92-4808-8F95-A9D4D4279F1A}" srcOrd="0" destOrd="0" presId="urn:microsoft.com/office/officeart/2018/2/layout/IconCircleList"/>
    <dgm:cxn modelId="{EFF02D03-0E98-4863-84A1-4502F73F11F2}" srcId="{7151FFE9-602B-4B1F-BD5B-D506579EEB53}" destId="{1ADF32D5-9DAF-470C-A83E-70489BD1F934}" srcOrd="3" destOrd="0" parTransId="{57989200-8783-43CC-ABFA-1E486A1874A6}" sibTransId="{F1D04625-BB32-447A-9BA4-0FE690D9D384}"/>
    <dgm:cxn modelId="{0B376D0A-2BA3-4326-911A-0A2132527560}" srcId="{7151FFE9-602B-4B1F-BD5B-D506579EEB53}" destId="{BE392BBD-0B57-4D6B-A442-C7918C258322}" srcOrd="0" destOrd="0" parTransId="{57FE04EC-6CF0-4851-BFAE-DA2774A49531}" sibTransId="{F13F45EC-41DA-4D29-8629-928082180D67}"/>
    <dgm:cxn modelId="{79F1E90D-4C1A-4C33-B6D1-605412A73A35}" type="presOf" srcId="{1ADF32D5-9DAF-470C-A83E-70489BD1F934}" destId="{E6EE367B-E57C-4408-9F35-97C4E35AA73C}" srcOrd="0" destOrd="0" presId="urn:microsoft.com/office/officeart/2018/2/layout/IconCircleList"/>
    <dgm:cxn modelId="{DB08A90F-BD0D-43D4-BE36-2B472E838D0B}" srcId="{7151FFE9-602B-4B1F-BD5B-D506579EEB53}" destId="{9767ACDE-AE1E-461A-A7CE-6EC107472E58}" srcOrd="7" destOrd="0" parTransId="{BBAEFD70-BB2F-4254-AB73-9FF716A86A57}" sibTransId="{74123EFD-8268-4DA4-A21C-91688F505088}"/>
    <dgm:cxn modelId="{78717515-2197-48F3-815D-309674CD423A}" type="presOf" srcId="{7513BB89-361E-4887-8454-A13F38C32A20}" destId="{B2345793-D981-48F1-ABFD-2D898BFD01C3}" srcOrd="0" destOrd="0" presId="urn:microsoft.com/office/officeart/2018/2/layout/IconCircleList"/>
    <dgm:cxn modelId="{2EDCF71F-0FF0-435F-931B-A2A8040BA883}" type="presOf" srcId="{0E61D562-257A-44A5-BC57-B25D18BEC2DD}" destId="{6DF688C4-DC4D-4D55-913E-A8F8F4808F3B}" srcOrd="0" destOrd="0" presId="urn:microsoft.com/office/officeart/2018/2/layout/IconCircleList"/>
    <dgm:cxn modelId="{14A27C28-4B7C-4455-84E2-9898482846B0}" type="presOf" srcId="{15234291-ED19-4936-89A2-E0A6DB0692AC}" destId="{0B8A0975-A252-4D2A-8C74-E4F1321F09FD}" srcOrd="0" destOrd="0" presId="urn:microsoft.com/office/officeart/2018/2/layout/IconCircleList"/>
    <dgm:cxn modelId="{0DD6E928-3081-412A-9549-6AC9E53324CF}" type="presOf" srcId="{9767ACDE-AE1E-461A-A7CE-6EC107472E58}" destId="{824E6749-0A42-4DE5-A29E-A6DCDBB3BF1C}" srcOrd="0" destOrd="0" presId="urn:microsoft.com/office/officeart/2018/2/layout/IconCircleList"/>
    <dgm:cxn modelId="{8D7BE129-43D0-4229-B8FE-3EEBD8EC352E}" srcId="{7151FFE9-602B-4B1F-BD5B-D506579EEB53}" destId="{797D86C7-F08E-4350-BEB2-79CF8170F34A}" srcOrd="1" destOrd="0" parTransId="{F5056416-0F4B-4E71-9EE9-8BF66F4EC1E8}" sibTransId="{CADCE427-658D-4AA4-BC05-F12EE65D4D0F}"/>
    <dgm:cxn modelId="{7366C43D-BA93-4ACC-8881-9B234DAAE9E0}" srcId="{7151FFE9-602B-4B1F-BD5B-D506579EEB53}" destId="{F355562C-1874-48F1-8499-FEFD4E7FD104}" srcOrd="5" destOrd="0" parTransId="{C271C136-ECA2-4139-9BAB-AFED9192DDE2}" sibTransId="{8AFAE43C-382D-4305-908D-2E668E9574B7}"/>
    <dgm:cxn modelId="{C96D7E40-EEC6-4494-841D-E630D0467007}" srcId="{7151FFE9-602B-4B1F-BD5B-D506579EEB53}" destId="{6E5DD060-EE49-4006-94AF-911442EC2923}" srcOrd="2" destOrd="0" parTransId="{5F9D8D3F-C64F-49A0-88D8-26F396DA46C8}" sibTransId="{15234291-ED19-4936-89A2-E0A6DB0692AC}"/>
    <dgm:cxn modelId="{CE603541-A58F-4DE1-B883-C1FE925EC083}" srcId="{7151FFE9-602B-4B1F-BD5B-D506579EEB53}" destId="{7513BB89-361E-4887-8454-A13F38C32A20}" srcOrd="4" destOrd="0" parTransId="{8F00D6B3-ED76-434C-B58C-5AE71B3261CB}" sibTransId="{0E61D562-257A-44A5-BC57-B25D18BEC2DD}"/>
    <dgm:cxn modelId="{01954679-9BE9-472E-9731-420D1896E7C7}" type="presOf" srcId="{84A4B725-3916-41F6-9499-2B2A2DCCCE34}" destId="{E926E751-2FA3-40E2-9500-86EEDA58ED6B}" srcOrd="0" destOrd="0" presId="urn:microsoft.com/office/officeart/2018/2/layout/IconCircleList"/>
    <dgm:cxn modelId="{85885194-CD13-423E-BC62-F66E8AF0F90E}" type="presOf" srcId="{BE392BBD-0B57-4D6B-A442-C7918C258322}" destId="{AF9D5BA3-BDE2-4E39-9BE5-65BA74C995A5}" srcOrd="0" destOrd="0" presId="urn:microsoft.com/office/officeart/2018/2/layout/IconCircleList"/>
    <dgm:cxn modelId="{0ED7B899-B615-44AD-8514-44323999D5FE}" type="presOf" srcId="{F1D04625-BB32-447A-9BA4-0FE690D9D384}" destId="{9A129EEC-7519-4BDC-B561-8E8BB661181B}" srcOrd="0" destOrd="0" presId="urn:microsoft.com/office/officeart/2018/2/layout/IconCircleList"/>
    <dgm:cxn modelId="{E44869A0-1811-4C2E-9E1A-FEB913096570}" type="presOf" srcId="{F13F45EC-41DA-4D29-8629-928082180D67}" destId="{A7F497D0-B88A-4C53-9392-E4F9983E4FC0}" srcOrd="0" destOrd="0" presId="urn:microsoft.com/office/officeart/2018/2/layout/IconCircleList"/>
    <dgm:cxn modelId="{8E8B81B2-3727-493E-9450-1C326C121F67}" type="presOf" srcId="{CADCE427-658D-4AA4-BC05-F12EE65D4D0F}" destId="{0CE03D06-ECB9-45D3-B7C6-0216E941BA91}" srcOrd="0" destOrd="0" presId="urn:microsoft.com/office/officeart/2018/2/layout/IconCircleList"/>
    <dgm:cxn modelId="{693474B5-C23B-469F-8BFD-072414239BF2}" type="presOf" srcId="{6E5DD060-EE49-4006-94AF-911442EC2923}" destId="{6BBBF93A-B829-4F83-9A24-2883F54FB012}" srcOrd="0" destOrd="0" presId="urn:microsoft.com/office/officeart/2018/2/layout/IconCircleList"/>
    <dgm:cxn modelId="{4CFBB4B5-D3E9-470C-95C1-CF4968316216}" type="presOf" srcId="{797D86C7-F08E-4350-BEB2-79CF8170F34A}" destId="{A641B86A-CD97-4863-A0FE-649F983CDA7F}" srcOrd="0" destOrd="0" presId="urn:microsoft.com/office/officeart/2018/2/layout/IconCircleList"/>
    <dgm:cxn modelId="{0DE02CBA-B720-41C2-B33B-ED2B6BAB3C31}" srcId="{7151FFE9-602B-4B1F-BD5B-D506579EEB53}" destId="{A2A9911F-AB89-48B4-BAB5-FBA43E4DED5C}" srcOrd="6" destOrd="0" parTransId="{3276996D-BD68-4A1F-A30D-D7AE4B2E9479}" sibTransId="{84A4B725-3916-41F6-9499-2B2A2DCCCE34}"/>
    <dgm:cxn modelId="{AE9222DB-0000-4BCF-83A6-DD2CBBA524D0}" type="presOf" srcId="{F355562C-1874-48F1-8499-FEFD4E7FD104}" destId="{69EBA89A-383F-4DF3-99D8-FB5B39A677D6}" srcOrd="0" destOrd="0" presId="urn:microsoft.com/office/officeart/2018/2/layout/IconCircleList"/>
    <dgm:cxn modelId="{7CDD1ADF-B2F8-4DB0-AEB0-D08C9EA3E285}" type="presOf" srcId="{8AFAE43C-382D-4305-908D-2E668E9574B7}" destId="{D3D7BC8D-4519-482D-BBAD-87A65803550A}" srcOrd="0" destOrd="0" presId="urn:microsoft.com/office/officeart/2018/2/layout/IconCircleList"/>
    <dgm:cxn modelId="{5D5D80FE-5580-4A94-897B-9BFF3C0B8ACE}" type="presOf" srcId="{7151FFE9-602B-4B1F-BD5B-D506579EEB53}" destId="{23E5EBFB-FFB0-4814-B579-7BDF6638E134}" srcOrd="0" destOrd="0" presId="urn:microsoft.com/office/officeart/2018/2/layout/IconCircleList"/>
    <dgm:cxn modelId="{D4A6F6C2-CFC9-4135-857D-940FA6A3BA43}" type="presParOf" srcId="{23E5EBFB-FFB0-4814-B579-7BDF6638E134}" destId="{862C95DA-768C-4458-8999-E53D43886043}" srcOrd="0" destOrd="0" presId="urn:microsoft.com/office/officeart/2018/2/layout/IconCircleList"/>
    <dgm:cxn modelId="{E956482C-CAF2-4830-8BA7-D6CB4E4CD082}" type="presParOf" srcId="{862C95DA-768C-4458-8999-E53D43886043}" destId="{89A7D06A-518C-44F2-BAB7-2EAA8C33C7D4}" srcOrd="0" destOrd="0" presId="urn:microsoft.com/office/officeart/2018/2/layout/IconCircleList"/>
    <dgm:cxn modelId="{06248556-D95E-497C-92D0-EB573529647E}" type="presParOf" srcId="{89A7D06A-518C-44F2-BAB7-2EAA8C33C7D4}" destId="{311C16B6-6C25-4926-9174-79CCAEA4C781}" srcOrd="0" destOrd="0" presId="urn:microsoft.com/office/officeart/2018/2/layout/IconCircleList"/>
    <dgm:cxn modelId="{DDB1A50D-711E-4810-B70C-A213F455EF50}" type="presParOf" srcId="{89A7D06A-518C-44F2-BAB7-2EAA8C33C7D4}" destId="{8D52807F-933C-46BB-856D-65F85704547D}" srcOrd="1" destOrd="0" presId="urn:microsoft.com/office/officeart/2018/2/layout/IconCircleList"/>
    <dgm:cxn modelId="{3C33F926-F92D-4353-9810-ED1F47464BA9}" type="presParOf" srcId="{89A7D06A-518C-44F2-BAB7-2EAA8C33C7D4}" destId="{DF824DC6-DA33-4DC4-9A32-386F99E12987}" srcOrd="2" destOrd="0" presId="urn:microsoft.com/office/officeart/2018/2/layout/IconCircleList"/>
    <dgm:cxn modelId="{90B1ABE2-778E-4BBF-BF14-EC287517E615}" type="presParOf" srcId="{89A7D06A-518C-44F2-BAB7-2EAA8C33C7D4}" destId="{AF9D5BA3-BDE2-4E39-9BE5-65BA74C995A5}" srcOrd="3" destOrd="0" presId="urn:microsoft.com/office/officeart/2018/2/layout/IconCircleList"/>
    <dgm:cxn modelId="{9453351E-3472-4B7B-8F07-828939FA807D}" type="presParOf" srcId="{862C95DA-768C-4458-8999-E53D43886043}" destId="{A7F497D0-B88A-4C53-9392-E4F9983E4FC0}" srcOrd="1" destOrd="0" presId="urn:microsoft.com/office/officeart/2018/2/layout/IconCircleList"/>
    <dgm:cxn modelId="{D824C949-E6E6-4CE8-B371-708E8260D758}" type="presParOf" srcId="{862C95DA-768C-4458-8999-E53D43886043}" destId="{6DFD547D-BBE1-4439-9447-089525FBAC72}" srcOrd="2" destOrd="0" presId="urn:microsoft.com/office/officeart/2018/2/layout/IconCircleList"/>
    <dgm:cxn modelId="{3D2A7E83-5D10-405B-9467-18A0021A18F3}" type="presParOf" srcId="{6DFD547D-BBE1-4439-9447-089525FBAC72}" destId="{019FC5B8-0F10-4261-B4E8-A83EA8639FCC}" srcOrd="0" destOrd="0" presId="urn:microsoft.com/office/officeart/2018/2/layout/IconCircleList"/>
    <dgm:cxn modelId="{7CDB0439-A724-450A-AF3E-615790939AE9}" type="presParOf" srcId="{6DFD547D-BBE1-4439-9447-089525FBAC72}" destId="{08C67DF3-AD6E-4370-B349-75287EF184D9}" srcOrd="1" destOrd="0" presId="urn:microsoft.com/office/officeart/2018/2/layout/IconCircleList"/>
    <dgm:cxn modelId="{CC068343-14DF-4942-A6D7-8ECB36F33DD8}" type="presParOf" srcId="{6DFD547D-BBE1-4439-9447-089525FBAC72}" destId="{498B678C-8477-4F52-BD24-77B217B88A8A}" srcOrd="2" destOrd="0" presId="urn:microsoft.com/office/officeart/2018/2/layout/IconCircleList"/>
    <dgm:cxn modelId="{282D3950-060A-47E6-939A-3C6AFFB30644}" type="presParOf" srcId="{6DFD547D-BBE1-4439-9447-089525FBAC72}" destId="{A641B86A-CD97-4863-A0FE-649F983CDA7F}" srcOrd="3" destOrd="0" presId="urn:microsoft.com/office/officeart/2018/2/layout/IconCircleList"/>
    <dgm:cxn modelId="{16E91512-F79F-49A6-933D-5B8F255EBB7E}" type="presParOf" srcId="{862C95DA-768C-4458-8999-E53D43886043}" destId="{0CE03D06-ECB9-45D3-B7C6-0216E941BA91}" srcOrd="3" destOrd="0" presId="urn:microsoft.com/office/officeart/2018/2/layout/IconCircleList"/>
    <dgm:cxn modelId="{6887B5EC-FEB5-4A29-9046-12E53F78AF72}" type="presParOf" srcId="{862C95DA-768C-4458-8999-E53D43886043}" destId="{AF17089B-A7FF-47BC-A65E-2B75FFC9232A}" srcOrd="4" destOrd="0" presId="urn:microsoft.com/office/officeart/2018/2/layout/IconCircleList"/>
    <dgm:cxn modelId="{B316F0BE-474C-417C-8930-0C0A9961AAFA}" type="presParOf" srcId="{AF17089B-A7FF-47BC-A65E-2B75FFC9232A}" destId="{AEECC3D6-C51A-49A7-A835-28F5D9B1AD1D}" srcOrd="0" destOrd="0" presId="urn:microsoft.com/office/officeart/2018/2/layout/IconCircleList"/>
    <dgm:cxn modelId="{3F5FDC41-E351-4A59-AE24-60BE15618AF3}" type="presParOf" srcId="{AF17089B-A7FF-47BC-A65E-2B75FFC9232A}" destId="{F56774CF-7085-4A4A-BBD1-70C5F65CBE32}" srcOrd="1" destOrd="0" presId="urn:microsoft.com/office/officeart/2018/2/layout/IconCircleList"/>
    <dgm:cxn modelId="{E519A894-BFA1-4DD2-9244-9976C93B7EC2}" type="presParOf" srcId="{AF17089B-A7FF-47BC-A65E-2B75FFC9232A}" destId="{E4B70C64-FD31-423B-8B4F-F038B62CDC5D}" srcOrd="2" destOrd="0" presId="urn:microsoft.com/office/officeart/2018/2/layout/IconCircleList"/>
    <dgm:cxn modelId="{93E2AAAB-F630-4F23-B56A-513175D95AF0}" type="presParOf" srcId="{AF17089B-A7FF-47BC-A65E-2B75FFC9232A}" destId="{6BBBF93A-B829-4F83-9A24-2883F54FB012}" srcOrd="3" destOrd="0" presId="urn:microsoft.com/office/officeart/2018/2/layout/IconCircleList"/>
    <dgm:cxn modelId="{B1D0F7E7-4B9C-4051-8945-7B2A6CF8A2A7}" type="presParOf" srcId="{862C95DA-768C-4458-8999-E53D43886043}" destId="{0B8A0975-A252-4D2A-8C74-E4F1321F09FD}" srcOrd="5" destOrd="0" presId="urn:microsoft.com/office/officeart/2018/2/layout/IconCircleList"/>
    <dgm:cxn modelId="{6BBAC3E2-E4FD-465E-BB44-E6F27EA52A58}" type="presParOf" srcId="{862C95DA-768C-4458-8999-E53D43886043}" destId="{DB3C1368-9109-4218-820E-2CB400CED9D1}" srcOrd="6" destOrd="0" presId="urn:microsoft.com/office/officeart/2018/2/layout/IconCircleList"/>
    <dgm:cxn modelId="{BB1580BF-E31C-437F-B38E-2ACF3AE1BB6E}" type="presParOf" srcId="{DB3C1368-9109-4218-820E-2CB400CED9D1}" destId="{08F5CB67-2D62-499B-86A5-134B5BB69E4B}" srcOrd="0" destOrd="0" presId="urn:microsoft.com/office/officeart/2018/2/layout/IconCircleList"/>
    <dgm:cxn modelId="{8D0081CE-E948-437A-83CE-675F4B977BCF}" type="presParOf" srcId="{DB3C1368-9109-4218-820E-2CB400CED9D1}" destId="{BAE96A5A-A56B-44FB-8A64-C776B8A32EAC}" srcOrd="1" destOrd="0" presId="urn:microsoft.com/office/officeart/2018/2/layout/IconCircleList"/>
    <dgm:cxn modelId="{ABDF9C72-F170-48C6-9D91-CA0AB328B40B}" type="presParOf" srcId="{DB3C1368-9109-4218-820E-2CB400CED9D1}" destId="{BC27D8D4-7E55-4607-8EEF-2B3456240D8E}" srcOrd="2" destOrd="0" presId="urn:microsoft.com/office/officeart/2018/2/layout/IconCircleList"/>
    <dgm:cxn modelId="{F00C14AD-C551-4D05-BA7A-D860CB5626A6}" type="presParOf" srcId="{DB3C1368-9109-4218-820E-2CB400CED9D1}" destId="{E6EE367B-E57C-4408-9F35-97C4E35AA73C}" srcOrd="3" destOrd="0" presId="urn:microsoft.com/office/officeart/2018/2/layout/IconCircleList"/>
    <dgm:cxn modelId="{E0ECA5B9-333A-4EBC-B51C-D5AFBD8D867F}" type="presParOf" srcId="{862C95DA-768C-4458-8999-E53D43886043}" destId="{9A129EEC-7519-4BDC-B561-8E8BB661181B}" srcOrd="7" destOrd="0" presId="urn:microsoft.com/office/officeart/2018/2/layout/IconCircleList"/>
    <dgm:cxn modelId="{0EEE3C64-D684-4EFA-8DF6-422B4E1041CA}" type="presParOf" srcId="{862C95DA-768C-4458-8999-E53D43886043}" destId="{7D66683D-BFE1-4C8E-8FDE-09F3A6017D8C}" srcOrd="8" destOrd="0" presId="urn:microsoft.com/office/officeart/2018/2/layout/IconCircleList"/>
    <dgm:cxn modelId="{A80965B3-5721-488C-A72D-5981BE597F3C}" type="presParOf" srcId="{7D66683D-BFE1-4C8E-8FDE-09F3A6017D8C}" destId="{A607491E-D42B-4766-AB7A-2C59D433AA71}" srcOrd="0" destOrd="0" presId="urn:microsoft.com/office/officeart/2018/2/layout/IconCircleList"/>
    <dgm:cxn modelId="{EBF3E352-C047-47ED-AD2A-B4A6D0BBD32A}" type="presParOf" srcId="{7D66683D-BFE1-4C8E-8FDE-09F3A6017D8C}" destId="{382C2A01-C936-4CCA-9ABF-1FD911CA674F}" srcOrd="1" destOrd="0" presId="urn:microsoft.com/office/officeart/2018/2/layout/IconCircleList"/>
    <dgm:cxn modelId="{1AF6AAD5-9552-4A17-A268-B4D9622D5955}" type="presParOf" srcId="{7D66683D-BFE1-4C8E-8FDE-09F3A6017D8C}" destId="{91370941-CC9F-4A7A-81B1-6B6E6BA42F66}" srcOrd="2" destOrd="0" presId="urn:microsoft.com/office/officeart/2018/2/layout/IconCircleList"/>
    <dgm:cxn modelId="{F9C71A98-61EA-4387-9AF5-4BE9CAF5A2B7}" type="presParOf" srcId="{7D66683D-BFE1-4C8E-8FDE-09F3A6017D8C}" destId="{B2345793-D981-48F1-ABFD-2D898BFD01C3}" srcOrd="3" destOrd="0" presId="urn:microsoft.com/office/officeart/2018/2/layout/IconCircleList"/>
    <dgm:cxn modelId="{4BEB5599-97CB-40D1-9547-DDC0FC9600EA}" type="presParOf" srcId="{862C95DA-768C-4458-8999-E53D43886043}" destId="{6DF688C4-DC4D-4D55-913E-A8F8F4808F3B}" srcOrd="9" destOrd="0" presId="urn:microsoft.com/office/officeart/2018/2/layout/IconCircleList"/>
    <dgm:cxn modelId="{820D0DDB-75C6-4967-9348-FFDCA4AB1FA0}" type="presParOf" srcId="{862C95DA-768C-4458-8999-E53D43886043}" destId="{F148A9FB-7405-476F-A020-F9FB66587F2D}" srcOrd="10" destOrd="0" presId="urn:microsoft.com/office/officeart/2018/2/layout/IconCircleList"/>
    <dgm:cxn modelId="{CAEB2C8A-266B-4806-BD0E-72A97E60B8A9}" type="presParOf" srcId="{F148A9FB-7405-476F-A020-F9FB66587F2D}" destId="{B583DA8B-346D-4DF7-AAC5-596BADB5B34F}" srcOrd="0" destOrd="0" presId="urn:microsoft.com/office/officeart/2018/2/layout/IconCircleList"/>
    <dgm:cxn modelId="{469826BD-1AE8-4830-8881-09AD73BEA0E2}" type="presParOf" srcId="{F148A9FB-7405-476F-A020-F9FB66587F2D}" destId="{28569559-3674-46DE-B2DF-4903F9025D5F}" srcOrd="1" destOrd="0" presId="urn:microsoft.com/office/officeart/2018/2/layout/IconCircleList"/>
    <dgm:cxn modelId="{76FB433C-65E3-424F-9F99-18B099510114}" type="presParOf" srcId="{F148A9FB-7405-476F-A020-F9FB66587F2D}" destId="{448FD57D-E065-4AAC-91FD-DFB6C8DF252E}" srcOrd="2" destOrd="0" presId="urn:microsoft.com/office/officeart/2018/2/layout/IconCircleList"/>
    <dgm:cxn modelId="{638FCF72-A59D-4A28-8E87-B4CB1EDE66A4}" type="presParOf" srcId="{F148A9FB-7405-476F-A020-F9FB66587F2D}" destId="{69EBA89A-383F-4DF3-99D8-FB5B39A677D6}" srcOrd="3" destOrd="0" presId="urn:microsoft.com/office/officeart/2018/2/layout/IconCircleList"/>
    <dgm:cxn modelId="{98B26AE9-C92B-4CD4-80C4-5A34B2698F78}" type="presParOf" srcId="{862C95DA-768C-4458-8999-E53D43886043}" destId="{D3D7BC8D-4519-482D-BBAD-87A65803550A}" srcOrd="11" destOrd="0" presId="urn:microsoft.com/office/officeart/2018/2/layout/IconCircleList"/>
    <dgm:cxn modelId="{71795CA0-EBC6-4D99-A5A9-9A14B2FD634D}" type="presParOf" srcId="{862C95DA-768C-4458-8999-E53D43886043}" destId="{30474FD8-22C9-4BD9-9882-B1FE89EAE31E}" srcOrd="12" destOrd="0" presId="urn:microsoft.com/office/officeart/2018/2/layout/IconCircleList"/>
    <dgm:cxn modelId="{60CD7B11-D177-4AE5-9957-5B78EE366F2A}" type="presParOf" srcId="{30474FD8-22C9-4BD9-9882-B1FE89EAE31E}" destId="{CC72C8B3-80C8-4EDD-A7F0-C560A47C5C89}" srcOrd="0" destOrd="0" presId="urn:microsoft.com/office/officeart/2018/2/layout/IconCircleList"/>
    <dgm:cxn modelId="{BE5EF995-9216-4E89-B568-8018C57CFA0F}" type="presParOf" srcId="{30474FD8-22C9-4BD9-9882-B1FE89EAE31E}" destId="{EF0F24C9-36BA-4E09-AB96-877E55B66778}" srcOrd="1" destOrd="0" presId="urn:microsoft.com/office/officeart/2018/2/layout/IconCircleList"/>
    <dgm:cxn modelId="{6D24E30B-DBCC-4CC8-923D-635CAA2E4D0A}" type="presParOf" srcId="{30474FD8-22C9-4BD9-9882-B1FE89EAE31E}" destId="{FFB3FEC0-3AFB-4F4F-8E16-EF33B9E8637A}" srcOrd="2" destOrd="0" presId="urn:microsoft.com/office/officeart/2018/2/layout/IconCircleList"/>
    <dgm:cxn modelId="{EE6C831E-3AEF-4A89-A982-45BA04C84030}" type="presParOf" srcId="{30474FD8-22C9-4BD9-9882-B1FE89EAE31E}" destId="{FCEF5E9B-0D92-4808-8F95-A9D4D4279F1A}" srcOrd="3" destOrd="0" presId="urn:microsoft.com/office/officeart/2018/2/layout/IconCircleList"/>
    <dgm:cxn modelId="{E22BD96A-2FF3-4F7A-913B-32048B1F50FB}" type="presParOf" srcId="{862C95DA-768C-4458-8999-E53D43886043}" destId="{E926E751-2FA3-40E2-9500-86EEDA58ED6B}" srcOrd="13" destOrd="0" presId="urn:microsoft.com/office/officeart/2018/2/layout/IconCircleList"/>
    <dgm:cxn modelId="{DAD93FC3-724C-48BC-82F4-6443DCF39626}" type="presParOf" srcId="{862C95DA-768C-4458-8999-E53D43886043}" destId="{84A5D6E5-3CD1-457E-AAC6-7E23D1524580}" srcOrd="14" destOrd="0" presId="urn:microsoft.com/office/officeart/2018/2/layout/IconCircleList"/>
    <dgm:cxn modelId="{69E55953-1C70-47CA-8C13-FFDFB8A02742}" type="presParOf" srcId="{84A5D6E5-3CD1-457E-AAC6-7E23D1524580}" destId="{E72DF8D2-0744-4DB5-ADC7-760780D73D31}" srcOrd="0" destOrd="0" presId="urn:microsoft.com/office/officeart/2018/2/layout/IconCircleList"/>
    <dgm:cxn modelId="{7FE92FC1-7B90-4BF5-8E2A-1A5C1AEA8B9A}" type="presParOf" srcId="{84A5D6E5-3CD1-457E-AAC6-7E23D1524580}" destId="{8022255D-17CF-4C4B-AB43-82DF44369F42}" srcOrd="1" destOrd="0" presId="urn:microsoft.com/office/officeart/2018/2/layout/IconCircleList"/>
    <dgm:cxn modelId="{A3CF62D4-FE73-4C91-9402-86D90906EA2F}" type="presParOf" srcId="{84A5D6E5-3CD1-457E-AAC6-7E23D1524580}" destId="{1CDE91CD-614A-4DE6-8A75-5FB0BC06B285}" srcOrd="2" destOrd="0" presId="urn:microsoft.com/office/officeart/2018/2/layout/IconCircleList"/>
    <dgm:cxn modelId="{35419E24-1F9F-44D1-9E19-35EA2CD4285E}" type="presParOf" srcId="{84A5D6E5-3CD1-457E-AAC6-7E23D1524580}" destId="{824E6749-0A42-4DE5-A29E-A6DCDBB3BF1C}"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1DB403-2F06-4143-ADEF-F72AA1D53F71}">
      <dsp:nvSpPr>
        <dsp:cNvPr id="0" name=""/>
        <dsp:cNvSpPr/>
      </dsp:nvSpPr>
      <dsp:spPr>
        <a:xfrm>
          <a:off x="-149592" y="12533"/>
          <a:ext cx="4683949" cy="92738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490DDE-08C9-498C-A477-660D69E3AF8A}">
      <dsp:nvSpPr>
        <dsp:cNvPr id="0" name=""/>
        <dsp:cNvSpPr/>
      </dsp:nvSpPr>
      <dsp:spPr>
        <a:xfrm>
          <a:off x="130940" y="221193"/>
          <a:ext cx="510059" cy="51005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5C25CF4-84E9-4156-947E-929165A90B15}">
      <dsp:nvSpPr>
        <dsp:cNvPr id="0" name=""/>
        <dsp:cNvSpPr/>
      </dsp:nvSpPr>
      <dsp:spPr>
        <a:xfrm>
          <a:off x="921531" y="12533"/>
          <a:ext cx="3610729" cy="927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148" tIns="98148" rIns="98148" bIns="98148" numCol="1" spcCol="1270" anchor="ctr" anchorCtr="0">
          <a:noAutofit/>
        </a:bodyPr>
        <a:lstStyle/>
        <a:p>
          <a:pPr marL="0" lvl="0" indent="0" algn="l" defTabSz="800100">
            <a:lnSpc>
              <a:spcPct val="90000"/>
            </a:lnSpc>
            <a:spcBef>
              <a:spcPct val="0"/>
            </a:spcBef>
            <a:spcAft>
              <a:spcPct val="35000"/>
            </a:spcAft>
            <a:buNone/>
          </a:pPr>
          <a:r>
            <a:rPr lang="en-US" sz="1800" kern="1200" dirty="0"/>
            <a:t>Total Clients:  2K</a:t>
          </a:r>
        </a:p>
      </dsp:txBody>
      <dsp:txXfrm>
        <a:off x="921531" y="12533"/>
        <a:ext cx="3610729" cy="927380"/>
      </dsp:txXfrm>
    </dsp:sp>
    <dsp:sp modelId="{4F525CDA-BF0D-4D91-8425-3A65E187E5DC}">
      <dsp:nvSpPr>
        <dsp:cNvPr id="0" name=""/>
        <dsp:cNvSpPr/>
      </dsp:nvSpPr>
      <dsp:spPr>
        <a:xfrm>
          <a:off x="-149592" y="1171758"/>
          <a:ext cx="4683949" cy="92738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9436D1-44C5-4FB1-9C54-F898CFF5EEAB}">
      <dsp:nvSpPr>
        <dsp:cNvPr id="0" name=""/>
        <dsp:cNvSpPr/>
      </dsp:nvSpPr>
      <dsp:spPr>
        <a:xfrm>
          <a:off x="130940" y="1380418"/>
          <a:ext cx="510059" cy="5100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18DF6F8-29FA-442A-84C2-DDDAD2978035}">
      <dsp:nvSpPr>
        <dsp:cNvPr id="0" name=""/>
        <dsp:cNvSpPr/>
      </dsp:nvSpPr>
      <dsp:spPr>
        <a:xfrm>
          <a:off x="921531" y="1171758"/>
          <a:ext cx="3610729" cy="927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148" tIns="98148" rIns="98148" bIns="98148" numCol="1" spcCol="1270" anchor="ctr" anchorCtr="0">
          <a:noAutofit/>
        </a:bodyPr>
        <a:lstStyle/>
        <a:p>
          <a:pPr marL="0" lvl="0" indent="0" algn="l" defTabSz="800100">
            <a:lnSpc>
              <a:spcPct val="90000"/>
            </a:lnSpc>
            <a:spcBef>
              <a:spcPct val="0"/>
            </a:spcBef>
            <a:spcAft>
              <a:spcPct val="35000"/>
            </a:spcAft>
            <a:buNone/>
          </a:pPr>
          <a:r>
            <a:rPr lang="en-US" sz="1800" kern="1200" dirty="0"/>
            <a:t>Active Clients: 324</a:t>
          </a:r>
        </a:p>
      </dsp:txBody>
      <dsp:txXfrm>
        <a:off x="921531" y="1171758"/>
        <a:ext cx="3610729" cy="927380"/>
      </dsp:txXfrm>
    </dsp:sp>
    <dsp:sp modelId="{E09079A4-27A6-4450-9343-4E7FE69C6B18}">
      <dsp:nvSpPr>
        <dsp:cNvPr id="0" name=""/>
        <dsp:cNvSpPr/>
      </dsp:nvSpPr>
      <dsp:spPr>
        <a:xfrm>
          <a:off x="-149592" y="2330983"/>
          <a:ext cx="4683949" cy="92738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5691C4-4C77-41AB-A26C-7C11094813C1}">
      <dsp:nvSpPr>
        <dsp:cNvPr id="0" name=""/>
        <dsp:cNvSpPr/>
      </dsp:nvSpPr>
      <dsp:spPr>
        <a:xfrm>
          <a:off x="130940" y="2539643"/>
          <a:ext cx="510059" cy="51005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F79396D-D62B-4667-8BA7-80DE21D176BF}">
      <dsp:nvSpPr>
        <dsp:cNvPr id="0" name=""/>
        <dsp:cNvSpPr/>
      </dsp:nvSpPr>
      <dsp:spPr>
        <a:xfrm>
          <a:off x="757965" y="2330983"/>
          <a:ext cx="3937862" cy="927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148" tIns="98148" rIns="98148" bIns="98148" numCol="1" spcCol="1270" anchor="ctr" anchorCtr="0">
          <a:noAutofit/>
        </a:bodyPr>
        <a:lstStyle/>
        <a:p>
          <a:pPr marL="0" lvl="0" indent="0" algn="l" defTabSz="800100">
            <a:lnSpc>
              <a:spcPct val="90000"/>
            </a:lnSpc>
            <a:spcBef>
              <a:spcPct val="0"/>
            </a:spcBef>
            <a:spcAft>
              <a:spcPct val="35000"/>
            </a:spcAft>
            <a:buNone/>
          </a:pPr>
          <a:r>
            <a:rPr lang="en-US" sz="1800" kern="1200" dirty="0"/>
            <a:t>Total Funded Amount: ₹5,23,61,094</a:t>
          </a:r>
        </a:p>
      </dsp:txBody>
      <dsp:txXfrm>
        <a:off x="757965" y="2330983"/>
        <a:ext cx="3937862" cy="927380"/>
      </dsp:txXfrm>
    </dsp:sp>
    <dsp:sp modelId="{80969307-9FA7-480F-B721-2DFA0CD70CB8}">
      <dsp:nvSpPr>
        <dsp:cNvPr id="0" name=""/>
        <dsp:cNvSpPr/>
      </dsp:nvSpPr>
      <dsp:spPr>
        <a:xfrm>
          <a:off x="-149592" y="3490208"/>
          <a:ext cx="4683949" cy="92738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7814D5-A3A6-4109-AB92-82B83F09E91D}">
      <dsp:nvSpPr>
        <dsp:cNvPr id="0" name=""/>
        <dsp:cNvSpPr/>
      </dsp:nvSpPr>
      <dsp:spPr>
        <a:xfrm>
          <a:off x="130940" y="3698869"/>
          <a:ext cx="510059" cy="51005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85CE012-22CA-4376-A6A3-74343FCA1D92}">
      <dsp:nvSpPr>
        <dsp:cNvPr id="0" name=""/>
        <dsp:cNvSpPr/>
      </dsp:nvSpPr>
      <dsp:spPr>
        <a:xfrm>
          <a:off x="921531" y="3490208"/>
          <a:ext cx="3610729" cy="927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148" tIns="98148" rIns="98148" bIns="98148" numCol="1" spcCol="1270" anchor="ctr" anchorCtr="0">
          <a:noAutofit/>
        </a:bodyPr>
        <a:lstStyle/>
        <a:p>
          <a:pPr marL="0" lvl="0" indent="0" algn="l" defTabSz="800100">
            <a:lnSpc>
              <a:spcPct val="90000"/>
            </a:lnSpc>
            <a:spcBef>
              <a:spcPct val="0"/>
            </a:spcBef>
            <a:spcAft>
              <a:spcPct val="35000"/>
            </a:spcAft>
            <a:buNone/>
          </a:pPr>
          <a:r>
            <a:rPr lang="en-US" sz="1800" kern="1200" dirty="0"/>
            <a:t>Top 3 Loan Distribution by Branch: Dhuri Branch, </a:t>
          </a:r>
          <a:r>
            <a:rPr lang="en-US" sz="1800" kern="1200" dirty="0" err="1"/>
            <a:t>Motihari</a:t>
          </a:r>
          <a:r>
            <a:rPr lang="en-US" sz="1800" kern="1200" dirty="0"/>
            <a:t> Branch, Bilaspur Branch</a:t>
          </a:r>
        </a:p>
      </dsp:txBody>
      <dsp:txXfrm>
        <a:off x="921531" y="3490208"/>
        <a:ext cx="3610729" cy="927380"/>
      </dsp:txXfrm>
    </dsp:sp>
    <dsp:sp modelId="{08FBE2A1-775B-4917-AD93-32897200CB2F}">
      <dsp:nvSpPr>
        <dsp:cNvPr id="0" name=""/>
        <dsp:cNvSpPr/>
      </dsp:nvSpPr>
      <dsp:spPr>
        <a:xfrm>
          <a:off x="-149592" y="4649433"/>
          <a:ext cx="4683949" cy="927380"/>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0EAA54-2681-4445-8CD8-3DA152BE354A}">
      <dsp:nvSpPr>
        <dsp:cNvPr id="0" name=""/>
        <dsp:cNvSpPr/>
      </dsp:nvSpPr>
      <dsp:spPr>
        <a:xfrm>
          <a:off x="130940" y="4858094"/>
          <a:ext cx="510059" cy="51005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907E315-9D4F-42AD-B5C8-4516154EB628}">
      <dsp:nvSpPr>
        <dsp:cNvPr id="0" name=""/>
        <dsp:cNvSpPr/>
      </dsp:nvSpPr>
      <dsp:spPr>
        <a:xfrm>
          <a:off x="620252" y="4649433"/>
          <a:ext cx="4213288" cy="927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148" tIns="98148" rIns="98148" bIns="98148" numCol="1" spcCol="1270" anchor="ctr" anchorCtr="0">
          <a:noAutofit/>
        </a:bodyPr>
        <a:lstStyle/>
        <a:p>
          <a:pPr marL="0" lvl="0" indent="0" algn="l" defTabSz="800100">
            <a:lnSpc>
              <a:spcPct val="90000"/>
            </a:lnSpc>
            <a:spcBef>
              <a:spcPct val="0"/>
            </a:spcBef>
            <a:spcAft>
              <a:spcPct val="35000"/>
            </a:spcAft>
            <a:buNone/>
          </a:pPr>
          <a:r>
            <a:rPr lang="en-US" sz="1800" kern="1200" dirty="0"/>
            <a:t>Total Repayments Collect : 5,38,61,255</a:t>
          </a:r>
        </a:p>
      </dsp:txBody>
      <dsp:txXfrm>
        <a:off x="620252" y="4649433"/>
        <a:ext cx="4213288" cy="9273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60EC7C-5EC2-4799-9117-7075DF5E7893}">
      <dsp:nvSpPr>
        <dsp:cNvPr id="0" name=""/>
        <dsp:cNvSpPr/>
      </dsp:nvSpPr>
      <dsp:spPr>
        <a:xfrm>
          <a:off x="0" y="4657369"/>
          <a:ext cx="4358346" cy="1018918"/>
        </a:xfrm>
        <a:prstGeom prst="rect">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Total Repayment Collect: 54M</a:t>
          </a:r>
        </a:p>
      </dsp:txBody>
      <dsp:txXfrm>
        <a:off x="0" y="4657369"/>
        <a:ext cx="4358346" cy="1018918"/>
      </dsp:txXfrm>
    </dsp:sp>
    <dsp:sp modelId="{7B3351B5-2A2F-45A9-A727-6051E20CD7BF}">
      <dsp:nvSpPr>
        <dsp:cNvPr id="0" name=""/>
        <dsp:cNvSpPr/>
      </dsp:nvSpPr>
      <dsp:spPr>
        <a:xfrm rot="10800000">
          <a:off x="0" y="3105556"/>
          <a:ext cx="4358346" cy="1567096"/>
        </a:xfrm>
        <a:prstGeom prst="upArrowCallout">
          <a:avLst/>
        </a:prstGeom>
        <a:solidFill>
          <a:schemeClr val="accent3">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Average Loan Amount: 26.18K</a:t>
          </a:r>
        </a:p>
      </dsp:txBody>
      <dsp:txXfrm rot="10800000">
        <a:off x="0" y="3105556"/>
        <a:ext cx="4358346" cy="1018252"/>
      </dsp:txXfrm>
    </dsp:sp>
    <dsp:sp modelId="{F9E6E2AD-8187-4A5C-B766-64559E1EE52C}">
      <dsp:nvSpPr>
        <dsp:cNvPr id="0" name=""/>
        <dsp:cNvSpPr/>
      </dsp:nvSpPr>
      <dsp:spPr>
        <a:xfrm rot="10800000">
          <a:off x="0" y="1553743"/>
          <a:ext cx="4358346" cy="1567096"/>
        </a:xfrm>
        <a:prstGeom prst="upArrowCallout">
          <a:avLst/>
        </a:prstGeom>
        <a:solidFill>
          <a:schemeClr val="accent4">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Sum of Total Amount: 52M</a:t>
          </a:r>
        </a:p>
      </dsp:txBody>
      <dsp:txXfrm rot="10800000">
        <a:off x="0" y="1553743"/>
        <a:ext cx="4358346" cy="1018252"/>
      </dsp:txXfrm>
    </dsp:sp>
    <dsp:sp modelId="{1E4B9474-91D8-475E-B1B1-6C1D180100C1}">
      <dsp:nvSpPr>
        <dsp:cNvPr id="0" name=""/>
        <dsp:cNvSpPr/>
      </dsp:nvSpPr>
      <dsp:spPr>
        <a:xfrm rot="10800000">
          <a:off x="0" y="1930"/>
          <a:ext cx="4358346" cy="1567096"/>
        </a:xfrm>
        <a:prstGeom prst="upArrowCallout">
          <a:avLst/>
        </a:prstGeom>
        <a:solidFill>
          <a:schemeClr val="accent5">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New Clients: 870</a:t>
          </a:r>
        </a:p>
      </dsp:txBody>
      <dsp:txXfrm rot="10800000">
        <a:off x="0" y="1930"/>
        <a:ext cx="4358346" cy="10182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1C16B6-6C25-4926-9174-79CCAEA4C781}">
      <dsp:nvSpPr>
        <dsp:cNvPr id="0" name=""/>
        <dsp:cNvSpPr/>
      </dsp:nvSpPr>
      <dsp:spPr>
        <a:xfrm>
          <a:off x="16866" y="361113"/>
          <a:ext cx="716552" cy="71655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52807F-933C-46BB-856D-65F85704547D}">
      <dsp:nvSpPr>
        <dsp:cNvPr id="0" name=""/>
        <dsp:cNvSpPr/>
      </dsp:nvSpPr>
      <dsp:spPr>
        <a:xfrm>
          <a:off x="167342" y="511589"/>
          <a:ext cx="415600" cy="4156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F9D5BA3-BDE2-4E39-9BE5-65BA74C995A5}">
      <dsp:nvSpPr>
        <dsp:cNvPr id="0" name=""/>
        <dsp:cNvSpPr/>
      </dsp:nvSpPr>
      <dsp:spPr>
        <a:xfrm>
          <a:off x="886965" y="361113"/>
          <a:ext cx="1689015" cy="716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a:t>Total Transactions: 100,000 | Unique Customers: 100,000 | Banks: 6 | Branches: 6</a:t>
          </a:r>
        </a:p>
      </dsp:txBody>
      <dsp:txXfrm>
        <a:off x="886965" y="361113"/>
        <a:ext cx="1689015" cy="716552"/>
      </dsp:txXfrm>
    </dsp:sp>
    <dsp:sp modelId="{019FC5B8-0F10-4261-B4E8-A83EA8639FCC}">
      <dsp:nvSpPr>
        <dsp:cNvPr id="0" name=""/>
        <dsp:cNvSpPr/>
      </dsp:nvSpPr>
      <dsp:spPr>
        <a:xfrm>
          <a:off x="2686863" y="361113"/>
          <a:ext cx="716552" cy="71655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C67DF3-AD6E-4370-B349-75287EF184D9}">
      <dsp:nvSpPr>
        <dsp:cNvPr id="0" name=""/>
        <dsp:cNvSpPr/>
      </dsp:nvSpPr>
      <dsp:spPr>
        <a:xfrm>
          <a:off x="3020755" y="511589"/>
          <a:ext cx="415600" cy="4156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641B86A-CD97-4863-A0FE-649F983CDA7F}">
      <dsp:nvSpPr>
        <dsp:cNvPr id="0" name=""/>
        <dsp:cNvSpPr/>
      </dsp:nvSpPr>
      <dsp:spPr>
        <a:xfrm>
          <a:off x="3494221" y="361113"/>
          <a:ext cx="2181329" cy="716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a:t>Total funded amount: ₹5,23,61,094| Total loan Disbursed: ₹5,23,61,121| On time repayments%: 71.05% </a:t>
          </a:r>
        </a:p>
      </dsp:txBody>
      <dsp:txXfrm>
        <a:off x="3494221" y="361113"/>
        <a:ext cx="2181329" cy="716552"/>
      </dsp:txXfrm>
    </dsp:sp>
    <dsp:sp modelId="{AEECC3D6-C51A-49A7-A835-28F5D9B1AD1D}">
      <dsp:nvSpPr>
        <dsp:cNvPr id="0" name=""/>
        <dsp:cNvSpPr/>
      </dsp:nvSpPr>
      <dsp:spPr>
        <a:xfrm>
          <a:off x="5969848" y="361113"/>
          <a:ext cx="716552" cy="71655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6774CF-7085-4A4A-BBD1-70C5F65CBE32}">
      <dsp:nvSpPr>
        <dsp:cNvPr id="0" name=""/>
        <dsp:cNvSpPr/>
      </dsp:nvSpPr>
      <dsp:spPr>
        <a:xfrm>
          <a:off x="6120324" y="511589"/>
          <a:ext cx="415600" cy="4156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BBBF93A-B829-4F83-9A24-2883F54FB012}">
      <dsp:nvSpPr>
        <dsp:cNvPr id="0" name=""/>
        <dsp:cNvSpPr/>
      </dsp:nvSpPr>
      <dsp:spPr>
        <a:xfrm>
          <a:off x="6839947" y="361113"/>
          <a:ext cx="1689015" cy="716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a:t>Average Loan Amount: ₹26.18K| </a:t>
          </a:r>
        </a:p>
      </dsp:txBody>
      <dsp:txXfrm>
        <a:off x="6839947" y="361113"/>
        <a:ext cx="1689015" cy="716552"/>
      </dsp:txXfrm>
    </dsp:sp>
    <dsp:sp modelId="{08F5CB67-2D62-499B-86A5-134B5BB69E4B}">
      <dsp:nvSpPr>
        <dsp:cNvPr id="0" name=""/>
        <dsp:cNvSpPr/>
      </dsp:nvSpPr>
      <dsp:spPr>
        <a:xfrm>
          <a:off x="16866" y="1817392"/>
          <a:ext cx="716552" cy="716552"/>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E96A5A-A56B-44FB-8A64-C776B8A32EAC}">
      <dsp:nvSpPr>
        <dsp:cNvPr id="0" name=""/>
        <dsp:cNvSpPr/>
      </dsp:nvSpPr>
      <dsp:spPr>
        <a:xfrm>
          <a:off x="167342" y="1967868"/>
          <a:ext cx="415600" cy="4156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6EE367B-E57C-4408-9F35-97C4E35AA73C}">
      <dsp:nvSpPr>
        <dsp:cNvPr id="0" name=""/>
        <dsp:cNvSpPr/>
      </dsp:nvSpPr>
      <dsp:spPr>
        <a:xfrm>
          <a:off x="886965" y="1817392"/>
          <a:ext cx="1689015" cy="716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a:t>Best Branches (Net Loan Flow): East Branch, Suburban Branch, North Branch</a:t>
          </a:r>
        </a:p>
      </dsp:txBody>
      <dsp:txXfrm>
        <a:off x="886965" y="1817392"/>
        <a:ext cx="1689015" cy="716552"/>
      </dsp:txXfrm>
    </dsp:sp>
    <dsp:sp modelId="{A607491E-D42B-4766-AB7A-2C59D433AA71}">
      <dsp:nvSpPr>
        <dsp:cNvPr id="0" name=""/>
        <dsp:cNvSpPr/>
      </dsp:nvSpPr>
      <dsp:spPr>
        <a:xfrm>
          <a:off x="2870279" y="1817392"/>
          <a:ext cx="716552" cy="716552"/>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2C2A01-C936-4CCA-9ABF-1FD911CA674F}">
      <dsp:nvSpPr>
        <dsp:cNvPr id="0" name=""/>
        <dsp:cNvSpPr/>
      </dsp:nvSpPr>
      <dsp:spPr>
        <a:xfrm>
          <a:off x="3020755" y="1967868"/>
          <a:ext cx="415600" cy="4156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2345793-D981-48F1-ABFD-2D898BFD01C3}">
      <dsp:nvSpPr>
        <dsp:cNvPr id="0" name=""/>
        <dsp:cNvSpPr/>
      </dsp:nvSpPr>
      <dsp:spPr>
        <a:xfrm>
          <a:off x="3740378" y="1817392"/>
          <a:ext cx="1689015" cy="716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a:t>Top Loan Distributed by branch: Sangrur Branch, Dhuri branch, </a:t>
          </a:r>
          <a:r>
            <a:rPr lang="en-US" sz="1200" kern="1200"/>
            <a:t>Bulandshah</a:t>
          </a:r>
          <a:r>
            <a:rPr lang="en-US" sz="1200" kern="1200" dirty="0"/>
            <a:t> Branch., </a:t>
          </a:r>
        </a:p>
      </dsp:txBody>
      <dsp:txXfrm>
        <a:off x="3740378" y="1817392"/>
        <a:ext cx="1689015" cy="716552"/>
      </dsp:txXfrm>
    </dsp:sp>
    <dsp:sp modelId="{B583DA8B-346D-4DF7-AAC5-596BADB5B34F}">
      <dsp:nvSpPr>
        <dsp:cNvPr id="0" name=""/>
        <dsp:cNvSpPr/>
      </dsp:nvSpPr>
      <dsp:spPr>
        <a:xfrm>
          <a:off x="5723691" y="1817392"/>
          <a:ext cx="716552" cy="71655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569559-3674-46DE-B2DF-4903F9025D5F}">
      <dsp:nvSpPr>
        <dsp:cNvPr id="0" name=""/>
        <dsp:cNvSpPr/>
      </dsp:nvSpPr>
      <dsp:spPr>
        <a:xfrm>
          <a:off x="5874167" y="1967868"/>
          <a:ext cx="415600" cy="41560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9EBA89A-383F-4DF3-99D8-FB5B39A677D6}">
      <dsp:nvSpPr>
        <dsp:cNvPr id="0" name=""/>
        <dsp:cNvSpPr/>
      </dsp:nvSpPr>
      <dsp:spPr>
        <a:xfrm>
          <a:off x="6593790" y="1817392"/>
          <a:ext cx="1689015" cy="716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a:t>Credit outpaces Debit in most months; monitor months with debit spikes.</a:t>
          </a:r>
        </a:p>
      </dsp:txBody>
      <dsp:txXfrm>
        <a:off x="6593790" y="1817392"/>
        <a:ext cx="1689015" cy="716552"/>
      </dsp:txXfrm>
    </dsp:sp>
    <dsp:sp modelId="{CC72C8B3-80C8-4EDD-A7F0-C560A47C5C89}">
      <dsp:nvSpPr>
        <dsp:cNvPr id="0" name=""/>
        <dsp:cNvSpPr/>
      </dsp:nvSpPr>
      <dsp:spPr>
        <a:xfrm>
          <a:off x="16866" y="3273672"/>
          <a:ext cx="716552" cy="71655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0F24C9-36BA-4E09-AB96-877E55B66778}">
      <dsp:nvSpPr>
        <dsp:cNvPr id="0" name=""/>
        <dsp:cNvSpPr/>
      </dsp:nvSpPr>
      <dsp:spPr>
        <a:xfrm>
          <a:off x="167342" y="3424148"/>
          <a:ext cx="415600" cy="415600"/>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CEF5E9B-0D92-4808-8F95-A9D4D4279F1A}">
      <dsp:nvSpPr>
        <dsp:cNvPr id="0" name=""/>
        <dsp:cNvSpPr/>
      </dsp:nvSpPr>
      <dsp:spPr>
        <a:xfrm>
          <a:off x="886965" y="3273672"/>
          <a:ext cx="1689015" cy="716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a:t>Transaction methods show concentration—optimize offers/UX for top-used methods.</a:t>
          </a:r>
        </a:p>
      </dsp:txBody>
      <dsp:txXfrm>
        <a:off x="886965" y="3273672"/>
        <a:ext cx="1689015" cy="716552"/>
      </dsp:txXfrm>
    </dsp:sp>
    <dsp:sp modelId="{E72DF8D2-0744-4DB5-ADC7-760780D73D31}">
      <dsp:nvSpPr>
        <dsp:cNvPr id="0" name=""/>
        <dsp:cNvSpPr/>
      </dsp:nvSpPr>
      <dsp:spPr>
        <a:xfrm>
          <a:off x="2870279" y="3273672"/>
          <a:ext cx="716552" cy="71655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22255D-17CF-4C4B-AB43-82DF44369F42}">
      <dsp:nvSpPr>
        <dsp:cNvPr id="0" name=""/>
        <dsp:cNvSpPr/>
      </dsp:nvSpPr>
      <dsp:spPr>
        <a:xfrm>
          <a:off x="3020755" y="3424148"/>
          <a:ext cx="415600" cy="415600"/>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24E6749-0A42-4DE5-A29E-A6DCDBB3BF1C}">
      <dsp:nvSpPr>
        <dsp:cNvPr id="0" name=""/>
        <dsp:cNvSpPr/>
      </dsp:nvSpPr>
      <dsp:spPr>
        <a:xfrm>
          <a:off x="3740378" y="3273672"/>
          <a:ext cx="1689015" cy="716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a:t>Banks with the highest totals can be prioritized for cross-sell and partnerships.</a:t>
          </a:r>
        </a:p>
      </dsp:txBody>
      <dsp:txXfrm>
        <a:off x="3740378" y="3273672"/>
        <a:ext cx="1689015" cy="71655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11/14/2025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11/14/2025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11/14/2025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11/14/2025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11/14/2025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11/14/2025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11/14/2025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2.xml"/><Relationship Id="rId4" Type="http://schemas.openxmlformats.org/officeDocument/2006/relationships/image" Target="../media/image31.jpg"/></Relationships>
</file>

<file path=ppt/slides/_rels/slide13.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446534" y="785031"/>
            <a:ext cx="10993549" cy="1444822"/>
          </a:xfrm>
        </p:spPr>
        <p:txBody>
          <a:bodyPr>
            <a:normAutofit fontScale="90000"/>
          </a:bodyPr>
          <a:lstStyle/>
          <a:p>
            <a:r>
              <a:rPr lang="en-US" dirty="0"/>
              <a:t>Final Presentation of Project DBS Bank LOAN Data analysis  </a:t>
            </a:r>
            <a:br>
              <a:rPr lang="en-US" dirty="0"/>
            </a:br>
            <a:endParaRPr lang="en-US" dirty="0"/>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1" y="2025928"/>
            <a:ext cx="10993546" cy="468233"/>
          </a:xfrm>
        </p:spPr>
        <p:txBody>
          <a:bodyPr>
            <a:normAutofit/>
          </a:bodyPr>
          <a:lstStyle/>
          <a:p>
            <a:r>
              <a:rPr lang="en-US" b="1" dirty="0"/>
              <a:t>Presented by (Group 2)</a:t>
            </a:r>
            <a:r>
              <a:rPr lang="en-US" dirty="0"/>
              <a:t>: RUSHIKESH, Nayan Kumar, SHIVANJALI,SABA,PURVA, SHRAVANI, VRUSHALI</a:t>
            </a:r>
          </a:p>
          <a:p>
            <a:endParaRPr lang="en-US" dirty="0"/>
          </a:p>
          <a:p>
            <a:endParaRPr lang="en-US" dirty="0"/>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E7114-7F4D-B79B-7F26-40D32129A195}"/>
              </a:ext>
            </a:extLst>
          </p:cNvPr>
          <p:cNvSpPr>
            <a:spLocks noGrp="1"/>
          </p:cNvSpPr>
          <p:nvPr>
            <p:ph type="title"/>
          </p:nvPr>
        </p:nvSpPr>
        <p:spPr>
          <a:xfrm>
            <a:off x="581192" y="702156"/>
            <a:ext cx="11029616" cy="430358"/>
          </a:xfrm>
        </p:spPr>
        <p:txBody>
          <a:bodyPr>
            <a:normAutofit fontScale="90000"/>
          </a:bodyPr>
          <a:lstStyle/>
          <a:p>
            <a:r>
              <a:rPr lang="en-US" dirty="0"/>
              <a:t>Index</a:t>
            </a:r>
          </a:p>
        </p:txBody>
      </p:sp>
      <p:sp>
        <p:nvSpPr>
          <p:cNvPr id="3" name="Content Placeholder 2">
            <a:extLst>
              <a:ext uri="{FF2B5EF4-FFF2-40B4-BE49-F238E27FC236}">
                <a16:creationId xmlns:a16="http://schemas.microsoft.com/office/drawing/2014/main" id="{1F50381E-D6E2-AE06-52B3-DF3C0A4C4DAD}"/>
              </a:ext>
            </a:extLst>
          </p:cNvPr>
          <p:cNvSpPr>
            <a:spLocks noGrp="1"/>
          </p:cNvSpPr>
          <p:nvPr>
            <p:ph idx="1"/>
          </p:nvPr>
        </p:nvSpPr>
        <p:spPr>
          <a:xfrm>
            <a:off x="458098" y="1853967"/>
            <a:ext cx="11029615" cy="4672668"/>
          </a:xfrm>
        </p:spPr>
        <p:txBody>
          <a:bodyPr>
            <a:normAutofit lnSpcReduction="10000"/>
          </a:bodyPr>
          <a:lstStyle/>
          <a:p>
            <a:r>
              <a:rPr lang="en-US" dirty="0"/>
              <a:t>Project introduction </a:t>
            </a:r>
          </a:p>
          <a:p>
            <a:r>
              <a:rPr lang="en-US" dirty="0"/>
              <a:t>Objective and scope</a:t>
            </a:r>
          </a:p>
          <a:p>
            <a:r>
              <a:rPr lang="en-US" dirty="0"/>
              <a:t>Key KPI’s</a:t>
            </a:r>
          </a:p>
          <a:p>
            <a:r>
              <a:rPr lang="en-US" dirty="0"/>
              <a:t>KPI’s key performance indicators</a:t>
            </a:r>
          </a:p>
          <a:p>
            <a:r>
              <a:rPr lang="en-US" dirty="0"/>
              <a:t> Insights</a:t>
            </a:r>
          </a:p>
          <a:p>
            <a:r>
              <a:rPr lang="en-US" dirty="0"/>
              <a:t>Recommendations</a:t>
            </a:r>
          </a:p>
          <a:p>
            <a:r>
              <a:rPr lang="en-US" dirty="0"/>
              <a:t>Exclusive summaries</a:t>
            </a:r>
          </a:p>
          <a:p>
            <a:r>
              <a:rPr lang="en-US" dirty="0"/>
              <a:t>Excel Dashboard </a:t>
            </a:r>
          </a:p>
          <a:p>
            <a:r>
              <a:rPr lang="en-US" dirty="0"/>
              <a:t>Tableau Dashboard</a:t>
            </a:r>
          </a:p>
          <a:p>
            <a:r>
              <a:rPr lang="en-US" dirty="0"/>
              <a:t>Power Bi Dashboard</a:t>
            </a:r>
          </a:p>
          <a:p>
            <a:r>
              <a:rPr lang="en-US" dirty="0"/>
              <a:t>Overall insights</a:t>
            </a:r>
          </a:p>
          <a:p>
            <a:r>
              <a:rPr lang="en-US" dirty="0"/>
              <a:t>Learning from </a:t>
            </a:r>
            <a:r>
              <a:rPr lang="en-US"/>
              <a:t>the Project</a:t>
            </a:r>
            <a:endParaRPr lang="en-US" dirty="0"/>
          </a:p>
        </p:txBody>
      </p:sp>
    </p:spTree>
    <p:extLst>
      <p:ext uri="{BB962C8B-B14F-4D97-AF65-F5344CB8AC3E}">
        <p14:creationId xmlns:p14="http://schemas.microsoft.com/office/powerpoint/2010/main" val="3360242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BD6C4-4D25-4D83-6FA1-1DE92D1AAC2E}"/>
              </a:ext>
            </a:extLst>
          </p:cNvPr>
          <p:cNvSpPr>
            <a:spLocks noGrp="1"/>
          </p:cNvSpPr>
          <p:nvPr>
            <p:ph type="title"/>
          </p:nvPr>
        </p:nvSpPr>
        <p:spPr>
          <a:xfrm>
            <a:off x="581192" y="702156"/>
            <a:ext cx="11029616" cy="519975"/>
          </a:xfrm>
        </p:spPr>
        <p:txBody>
          <a:bodyPr/>
          <a:lstStyle/>
          <a:p>
            <a:r>
              <a:rPr lang="en-US" dirty="0"/>
              <a:t>Project Introduction</a:t>
            </a:r>
          </a:p>
        </p:txBody>
      </p:sp>
      <p:sp>
        <p:nvSpPr>
          <p:cNvPr id="3" name="Content Placeholder 2">
            <a:extLst>
              <a:ext uri="{FF2B5EF4-FFF2-40B4-BE49-F238E27FC236}">
                <a16:creationId xmlns:a16="http://schemas.microsoft.com/office/drawing/2014/main" id="{EAA229B0-ECA6-63A2-39E8-4F62A3F1AFF0}"/>
              </a:ext>
            </a:extLst>
          </p:cNvPr>
          <p:cNvSpPr>
            <a:spLocks noGrp="1"/>
          </p:cNvSpPr>
          <p:nvPr>
            <p:ph idx="1"/>
          </p:nvPr>
        </p:nvSpPr>
        <p:spPr>
          <a:xfrm>
            <a:off x="581192" y="1488790"/>
            <a:ext cx="11332384" cy="2818912"/>
          </a:xfrm>
        </p:spPr>
        <p:txBody>
          <a:bodyPr/>
          <a:lstStyle/>
          <a:p>
            <a:pPr algn="just"/>
            <a:r>
              <a:rPr lang="en-US" dirty="0"/>
              <a:t>This project focuses on analyzing banking data to identify patterns, trends, and insights that can help in improving decision-making. </a:t>
            </a:r>
          </a:p>
          <a:p>
            <a:pPr algn="just"/>
            <a:r>
              <a:rPr lang="en-US" dirty="0"/>
              <a:t>Banks generate massive amounts of data every day through Loan accounts,  Loan deposits, Loan withdrawals, loans, credit cards, and transactions across different branches.</a:t>
            </a:r>
          </a:p>
          <a:p>
            <a:pPr algn="just"/>
            <a:r>
              <a:rPr lang="en-US" dirty="0"/>
              <a:t>However, this raw data is complex and not directly useful without proper cleaning and analysis.</a:t>
            </a:r>
          </a:p>
          <a:p>
            <a:pPr algn="just"/>
            <a:r>
              <a:rPr lang="en-US" dirty="0"/>
              <a:t>Our project aimed to transform this raw data into meaningful dashboards that highlight branch performance, loan distributions, customer segmentation, and overall financial trends.</a:t>
            </a:r>
          </a:p>
        </p:txBody>
      </p:sp>
    </p:spTree>
    <p:extLst>
      <p:ext uri="{BB962C8B-B14F-4D97-AF65-F5344CB8AC3E}">
        <p14:creationId xmlns:p14="http://schemas.microsoft.com/office/powerpoint/2010/main" val="1523040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0F179-EF54-D817-3A37-5F90024D8E29}"/>
              </a:ext>
            </a:extLst>
          </p:cNvPr>
          <p:cNvSpPr>
            <a:spLocks noGrp="1"/>
          </p:cNvSpPr>
          <p:nvPr>
            <p:ph type="title"/>
          </p:nvPr>
        </p:nvSpPr>
        <p:spPr/>
        <p:txBody>
          <a:bodyPr/>
          <a:lstStyle/>
          <a:p>
            <a:r>
              <a:rPr lang="en-US" dirty="0"/>
              <a:t>Objectives &amp; Scope</a:t>
            </a:r>
          </a:p>
        </p:txBody>
      </p:sp>
      <p:sp>
        <p:nvSpPr>
          <p:cNvPr id="3" name="Content Placeholder 2">
            <a:extLst>
              <a:ext uri="{FF2B5EF4-FFF2-40B4-BE49-F238E27FC236}">
                <a16:creationId xmlns:a16="http://schemas.microsoft.com/office/drawing/2014/main" id="{AD8E4DA3-0C28-5949-BE25-E563AB6610CA}"/>
              </a:ext>
            </a:extLst>
          </p:cNvPr>
          <p:cNvSpPr>
            <a:spLocks noGrp="1"/>
          </p:cNvSpPr>
          <p:nvPr>
            <p:ph idx="1"/>
          </p:nvPr>
        </p:nvSpPr>
        <p:spPr>
          <a:xfrm>
            <a:off x="581192" y="2165017"/>
            <a:ext cx="11029615" cy="3004859"/>
          </a:xfrm>
        </p:spPr>
        <p:txBody>
          <a:bodyPr/>
          <a:lstStyle/>
          <a:p>
            <a:r>
              <a:rPr lang="en-US" dirty="0"/>
              <a:t>The main objective of this project was to utilize data analysis techniques to understand customer behavior, analyze branch performance, and track key banking metrics.</a:t>
            </a:r>
          </a:p>
          <a:p>
            <a:r>
              <a:rPr lang="en-US" dirty="0"/>
              <a:t>Excel provided quick analysis and pivot summaries, Tableau helped in creating interactive dashboards, and Power BI enabled KPI-focused reports. </a:t>
            </a:r>
          </a:p>
          <a:p>
            <a:r>
              <a:rPr lang="en-US" dirty="0"/>
              <a:t>This project also aimed to compare the strengths of each BI tool and demonstrate how teamwork and different tools can work together to generate actionable insights.</a:t>
            </a:r>
          </a:p>
        </p:txBody>
      </p:sp>
    </p:spTree>
    <p:extLst>
      <p:ext uri="{BB962C8B-B14F-4D97-AF65-F5344CB8AC3E}">
        <p14:creationId xmlns:p14="http://schemas.microsoft.com/office/powerpoint/2010/main" val="2681123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55" y="2706741"/>
            <a:ext cx="4293188" cy="1158733"/>
          </a:xfrm>
        </p:spPr>
        <p:txBody>
          <a:bodyPr>
            <a:normAutofit/>
          </a:bodyPr>
          <a:lstStyle/>
          <a:p>
            <a:pPr algn="r"/>
            <a:r>
              <a:rPr lang="en-AU" sz="7000" dirty="0"/>
              <a:t>Key KPIs</a:t>
            </a:r>
          </a:p>
        </p:txBody>
      </p:sp>
      <p:graphicFrame>
        <p:nvGraphicFramePr>
          <p:cNvPr id="5" name="Content Placeholder 2">
            <a:extLst>
              <a:ext uri="{FF2B5EF4-FFF2-40B4-BE49-F238E27FC236}">
                <a16:creationId xmlns:a16="http://schemas.microsoft.com/office/drawing/2014/main" id="{744CC5AD-985E-D342-49FF-99974579D1BB}"/>
              </a:ext>
            </a:extLst>
          </p:cNvPr>
          <p:cNvGraphicFramePr>
            <a:graphicFrameLocks noGrp="1"/>
          </p:cNvGraphicFramePr>
          <p:nvPr>
            <p:ph idx="1"/>
            <p:extLst>
              <p:ext uri="{D42A27DB-BD31-4B8C-83A1-F6EECF244321}">
                <p14:modId xmlns:p14="http://schemas.microsoft.com/office/powerpoint/2010/main" val="3972112060"/>
              </p:ext>
            </p:extLst>
          </p:nvPr>
        </p:nvGraphicFramePr>
        <p:xfrm>
          <a:off x="5355402" y="1070801"/>
          <a:ext cx="4683949"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958" y="2511364"/>
            <a:ext cx="4125058" cy="1401214"/>
          </a:xfrm>
        </p:spPr>
        <p:txBody>
          <a:bodyPr vert="horz" lIns="91440" tIns="45720" rIns="91440" bIns="45720" rtlCol="0" anchor="t">
            <a:normAutofit/>
          </a:bodyPr>
          <a:lstStyle/>
          <a:p>
            <a:pPr defTabSz="914400">
              <a:lnSpc>
                <a:spcPct val="90000"/>
              </a:lnSpc>
            </a:pPr>
            <a:r>
              <a:rPr lang="en-US" sz="3300" dirty="0">
                <a:solidFill>
                  <a:schemeClr val="tx1"/>
                </a:solidFill>
              </a:rPr>
              <a:t>Key Performance Indicators (KPIs)</a:t>
            </a:r>
          </a:p>
        </p:txBody>
      </p:sp>
      <p:graphicFrame>
        <p:nvGraphicFramePr>
          <p:cNvPr id="67" name="TextBox 2">
            <a:extLst>
              <a:ext uri="{FF2B5EF4-FFF2-40B4-BE49-F238E27FC236}">
                <a16:creationId xmlns:a16="http://schemas.microsoft.com/office/drawing/2014/main" id="{FD78770C-FA8F-5D90-6113-B385C8A57E4A}"/>
              </a:ext>
            </a:extLst>
          </p:cNvPr>
          <p:cNvGraphicFramePr/>
          <p:nvPr>
            <p:extLst>
              <p:ext uri="{D42A27DB-BD31-4B8C-83A1-F6EECF244321}">
                <p14:modId xmlns:p14="http://schemas.microsoft.com/office/powerpoint/2010/main" val="2578407492"/>
              </p:ext>
            </p:extLst>
          </p:nvPr>
        </p:nvGraphicFramePr>
        <p:xfrm>
          <a:off x="5543844" y="589890"/>
          <a:ext cx="4358346" cy="5678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459863"/>
            <a:ext cx="7886700" cy="1004594"/>
          </a:xfrm>
        </p:spPr>
        <p:txBody>
          <a:bodyPr>
            <a:normAutofit/>
          </a:bodyPr>
          <a:lstStyle/>
          <a:p>
            <a:r>
              <a:rPr lang="en-AU" dirty="0">
                <a:solidFill>
                  <a:schemeClr val="tx1"/>
                </a:solidFill>
              </a:rPr>
              <a:t>Insights</a:t>
            </a:r>
          </a:p>
        </p:txBody>
      </p:sp>
      <p:graphicFrame>
        <p:nvGraphicFramePr>
          <p:cNvPr id="16" name="Content Placeholder 2">
            <a:extLst>
              <a:ext uri="{FF2B5EF4-FFF2-40B4-BE49-F238E27FC236}">
                <a16:creationId xmlns:a16="http://schemas.microsoft.com/office/drawing/2014/main" id="{DC28D6DF-AFBC-E40D-A9B4-D05B19D8240A}"/>
              </a:ext>
            </a:extLst>
          </p:cNvPr>
          <p:cNvGraphicFramePr>
            <a:graphicFrameLocks noGrp="1"/>
          </p:cNvGraphicFramePr>
          <p:nvPr>
            <p:ph idx="1"/>
            <p:extLst>
              <p:ext uri="{D42A27DB-BD31-4B8C-83A1-F6EECF244321}">
                <p14:modId xmlns:p14="http://schemas.microsoft.com/office/powerpoint/2010/main" val="100014536"/>
              </p:ext>
            </p:extLst>
          </p:nvPr>
        </p:nvGraphicFramePr>
        <p:xfrm>
          <a:off x="2152650" y="1800911"/>
          <a:ext cx="854583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25418" y="1138036"/>
            <a:ext cx="4083287" cy="1402470"/>
          </a:xfrm>
        </p:spPr>
        <p:txBody>
          <a:bodyPr anchor="t">
            <a:normAutofit/>
          </a:bodyPr>
          <a:lstStyle/>
          <a:p>
            <a:r>
              <a:rPr lang="en-AU" dirty="0"/>
              <a:t>Recommendations</a:t>
            </a:r>
          </a:p>
        </p:txBody>
      </p:sp>
      <p:pic>
        <p:nvPicPr>
          <p:cNvPr id="5" name="Picture 4" descr="A 3D pattern of ring shapes connected by lines">
            <a:extLst>
              <a:ext uri="{FF2B5EF4-FFF2-40B4-BE49-F238E27FC236}">
                <a16:creationId xmlns:a16="http://schemas.microsoft.com/office/drawing/2014/main" id="{ED216E8A-6376-446A-BFFC-F65FC0AB9814}"/>
              </a:ext>
            </a:extLst>
          </p:cNvPr>
          <p:cNvPicPr>
            <a:picLocks noChangeAspect="1"/>
          </p:cNvPicPr>
          <p:nvPr/>
        </p:nvPicPr>
        <p:blipFill>
          <a:blip r:embed="rId2"/>
          <a:srcRect l="17795" r="50518"/>
          <a:stretch>
            <a:fillRect/>
          </a:stretch>
        </p:blipFill>
        <p:spPr>
          <a:xfrm>
            <a:off x="1066821" y="1011116"/>
            <a:ext cx="3863363" cy="5618284"/>
          </a:xfrm>
          <a:prstGeom prst="rect">
            <a:avLst/>
          </a:prstGeom>
        </p:spPr>
      </p:pic>
      <p:sp>
        <p:nvSpPr>
          <p:cNvPr id="3" name="Content Placeholder 2"/>
          <p:cNvSpPr>
            <a:spLocks noGrp="1"/>
          </p:cNvSpPr>
          <p:nvPr>
            <p:ph idx="1"/>
          </p:nvPr>
        </p:nvSpPr>
        <p:spPr>
          <a:xfrm>
            <a:off x="5925418" y="2551177"/>
            <a:ext cx="4083287" cy="3591207"/>
          </a:xfrm>
        </p:spPr>
        <p:txBody>
          <a:bodyPr>
            <a:normAutofit/>
          </a:bodyPr>
          <a:lstStyle/>
          <a:p>
            <a:pPr>
              <a:lnSpc>
                <a:spcPct val="90000"/>
              </a:lnSpc>
            </a:pPr>
            <a:endParaRPr lang="en-US" dirty="0"/>
          </a:p>
          <a:p>
            <a:pPr>
              <a:lnSpc>
                <a:spcPct val="90000"/>
              </a:lnSpc>
              <a:defRPr sz="1600">
                <a:solidFill>
                  <a:srgbClr val="282828"/>
                </a:solidFill>
              </a:defRPr>
            </a:pPr>
            <a:r>
              <a:rPr lang="en-US" dirty="0"/>
              <a:t>Double down on high net cash-flow branches; replicate their practices across branches.</a:t>
            </a:r>
          </a:p>
          <a:p>
            <a:pPr>
              <a:lnSpc>
                <a:spcPct val="90000"/>
              </a:lnSpc>
              <a:defRPr sz="1600">
                <a:solidFill>
                  <a:srgbClr val="282828"/>
                </a:solidFill>
              </a:defRPr>
            </a:pPr>
            <a:r>
              <a:rPr lang="en-US" dirty="0"/>
              <a:t>Target top customers with loyalty offers and personalized products.</a:t>
            </a:r>
          </a:p>
          <a:p>
            <a:pPr>
              <a:lnSpc>
                <a:spcPct val="90000"/>
              </a:lnSpc>
              <a:defRPr sz="1600">
                <a:solidFill>
                  <a:srgbClr val="282828"/>
                </a:solidFill>
              </a:defRPr>
            </a:pPr>
            <a:r>
              <a:rPr lang="en-US" dirty="0"/>
              <a:t>Review months/quarters with debit spikes; investigate drivers and mitigate risk.</a:t>
            </a:r>
          </a:p>
          <a:p>
            <a:pPr>
              <a:lnSpc>
                <a:spcPct val="90000"/>
              </a:lnSpc>
              <a:defRPr sz="1600">
                <a:solidFill>
                  <a:srgbClr val="282828"/>
                </a:solidFill>
              </a:defRPr>
            </a:pPr>
            <a:r>
              <a:rPr lang="en-US" dirty="0"/>
              <a:t>Streamline top transaction methods to reduce friction and increase throughput.</a:t>
            </a:r>
          </a:p>
          <a:p>
            <a:pPr>
              <a:lnSpc>
                <a:spcPct val="90000"/>
              </a:lnSpc>
              <a:defRPr sz="1600">
                <a:solidFill>
                  <a:srgbClr val="282828"/>
                </a:solidFill>
              </a:defRPr>
            </a:pPr>
            <a:r>
              <a:rPr lang="en-US" dirty="0"/>
              <a:t>Align bank partnerships and campaigns with banks driving the highest volumes.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AB609-38C5-1FF2-EC4E-E89FE18AF1E6}"/>
              </a:ext>
            </a:extLst>
          </p:cNvPr>
          <p:cNvSpPr>
            <a:spLocks noGrp="1"/>
          </p:cNvSpPr>
          <p:nvPr>
            <p:ph type="title"/>
          </p:nvPr>
        </p:nvSpPr>
        <p:spPr>
          <a:xfrm>
            <a:off x="581192" y="702156"/>
            <a:ext cx="11029616" cy="634275"/>
          </a:xfrm>
        </p:spPr>
        <p:txBody>
          <a:bodyPr>
            <a:normAutofit/>
          </a:bodyPr>
          <a:lstStyle/>
          <a:p>
            <a:r>
              <a:rPr lang="en-US" dirty="0"/>
              <a:t>Excel Dashboard : DBS Bank LOAN Analysis Dashboard</a:t>
            </a:r>
          </a:p>
        </p:txBody>
      </p:sp>
      <p:pic>
        <p:nvPicPr>
          <p:cNvPr id="7" name="Content Placeholder 6">
            <a:extLst>
              <a:ext uri="{FF2B5EF4-FFF2-40B4-BE49-F238E27FC236}">
                <a16:creationId xmlns:a16="http://schemas.microsoft.com/office/drawing/2014/main" id="{BE43D854-1461-6A4B-7A8C-D7B51D05AE5E}"/>
              </a:ext>
            </a:extLst>
          </p:cNvPr>
          <p:cNvPicPr>
            <a:picLocks noGrp="1" noChangeAspect="1"/>
          </p:cNvPicPr>
          <p:nvPr>
            <p:ph idx="1"/>
          </p:nvPr>
        </p:nvPicPr>
        <p:blipFill>
          <a:blip r:embed="rId2"/>
          <a:stretch>
            <a:fillRect/>
          </a:stretch>
        </p:blipFill>
        <p:spPr>
          <a:xfrm>
            <a:off x="1" y="1336431"/>
            <a:ext cx="12127832" cy="5521569"/>
          </a:xfrm>
        </p:spPr>
      </p:pic>
    </p:spTree>
    <p:extLst>
      <p:ext uri="{BB962C8B-B14F-4D97-AF65-F5344CB8AC3E}">
        <p14:creationId xmlns:p14="http://schemas.microsoft.com/office/powerpoint/2010/main" val="3971202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25D7B-EC7D-9096-5A97-23C23E5C06B3}"/>
              </a:ext>
            </a:extLst>
          </p:cNvPr>
          <p:cNvSpPr>
            <a:spLocks noGrp="1"/>
          </p:cNvSpPr>
          <p:nvPr>
            <p:ph type="title"/>
          </p:nvPr>
        </p:nvSpPr>
        <p:spPr>
          <a:xfrm>
            <a:off x="581192" y="702156"/>
            <a:ext cx="11029616" cy="713406"/>
          </a:xfrm>
        </p:spPr>
        <p:txBody>
          <a:bodyPr/>
          <a:lstStyle/>
          <a:p>
            <a:pPr algn="ctr"/>
            <a:r>
              <a:rPr lang="en-US" dirty="0"/>
              <a:t>Tableau Dashboard: bank  LOAN data analysis</a:t>
            </a:r>
          </a:p>
        </p:txBody>
      </p:sp>
      <p:pic>
        <p:nvPicPr>
          <p:cNvPr id="9" name="Content Placeholder 8">
            <a:extLst>
              <a:ext uri="{FF2B5EF4-FFF2-40B4-BE49-F238E27FC236}">
                <a16:creationId xmlns:a16="http://schemas.microsoft.com/office/drawing/2014/main" id="{F9E5B153-4835-13DC-3E5F-BBBF21A3A7C8}"/>
              </a:ext>
            </a:extLst>
          </p:cNvPr>
          <p:cNvPicPr>
            <a:picLocks noGrp="1" noChangeAspect="1"/>
          </p:cNvPicPr>
          <p:nvPr>
            <p:ph idx="1"/>
          </p:nvPr>
        </p:nvPicPr>
        <p:blipFill>
          <a:blip r:embed="rId2"/>
          <a:stretch>
            <a:fillRect/>
          </a:stretch>
        </p:blipFill>
        <p:spPr>
          <a:xfrm>
            <a:off x="204716" y="1415562"/>
            <a:ext cx="11818962" cy="5244546"/>
          </a:xfrm>
        </p:spPr>
      </p:pic>
    </p:spTree>
    <p:extLst>
      <p:ext uri="{BB962C8B-B14F-4D97-AF65-F5344CB8AC3E}">
        <p14:creationId xmlns:p14="http://schemas.microsoft.com/office/powerpoint/2010/main" val="3557551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DCA6F-4A60-5A64-3F13-782317785B42}"/>
              </a:ext>
            </a:extLst>
          </p:cNvPr>
          <p:cNvSpPr>
            <a:spLocks noGrp="1"/>
          </p:cNvSpPr>
          <p:nvPr>
            <p:ph type="title"/>
          </p:nvPr>
        </p:nvSpPr>
        <p:spPr>
          <a:xfrm>
            <a:off x="581192" y="702156"/>
            <a:ext cx="11029616" cy="581521"/>
          </a:xfrm>
        </p:spPr>
        <p:txBody>
          <a:bodyPr/>
          <a:lstStyle/>
          <a:p>
            <a:pPr algn="ctr"/>
            <a:r>
              <a:rPr lang="en-US" dirty="0"/>
              <a:t>Power BI:  DBS Bank LOAN Data analysis </a:t>
            </a:r>
          </a:p>
        </p:txBody>
      </p:sp>
      <p:pic>
        <p:nvPicPr>
          <p:cNvPr id="6" name="Content Placeholder 5">
            <a:extLst>
              <a:ext uri="{FF2B5EF4-FFF2-40B4-BE49-F238E27FC236}">
                <a16:creationId xmlns:a16="http://schemas.microsoft.com/office/drawing/2014/main" id="{E262B19D-E921-710D-6A37-9FF86111D76C}"/>
              </a:ext>
            </a:extLst>
          </p:cNvPr>
          <p:cNvPicPr>
            <a:picLocks noGrp="1" noChangeAspect="1"/>
          </p:cNvPicPr>
          <p:nvPr>
            <p:ph idx="1"/>
          </p:nvPr>
        </p:nvPicPr>
        <p:blipFill>
          <a:blip r:embed="rId2"/>
          <a:stretch>
            <a:fillRect/>
          </a:stretch>
        </p:blipFill>
        <p:spPr>
          <a:xfrm>
            <a:off x="64167" y="1283677"/>
            <a:ext cx="12071685" cy="5397860"/>
          </a:xfrm>
        </p:spPr>
      </p:pic>
    </p:spTree>
    <p:extLst>
      <p:ext uri="{BB962C8B-B14F-4D97-AF65-F5344CB8AC3E}">
        <p14:creationId xmlns:p14="http://schemas.microsoft.com/office/powerpoint/2010/main" val="1172344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03792"/>
          </a:xfrm>
        </p:spPr>
        <p:txBody>
          <a:bodyPr>
            <a:normAutofit fontScale="90000"/>
          </a:bodyPr>
          <a:lstStyle/>
          <a:p>
            <a:pPr algn="ctr"/>
            <a:r>
              <a:rPr lang="en-US" dirty="0"/>
              <a:t>SQL:  DBS Bank LOAN Data analysis </a:t>
            </a:r>
            <a:endParaRPr lang="en-IN" dirty="0"/>
          </a:p>
        </p:txBody>
      </p:sp>
      <p:sp>
        <p:nvSpPr>
          <p:cNvPr id="4" name="TextBox 3"/>
          <p:cNvSpPr txBox="1"/>
          <p:nvPr/>
        </p:nvSpPr>
        <p:spPr>
          <a:xfrm>
            <a:off x="819731" y="1484243"/>
            <a:ext cx="11372269" cy="7571303"/>
          </a:xfrm>
          <a:prstGeom prst="rect">
            <a:avLst/>
          </a:prstGeom>
          <a:noFill/>
        </p:spPr>
        <p:txBody>
          <a:bodyPr wrap="square" rtlCol="0">
            <a:spAutoFit/>
          </a:bodyPr>
          <a:lstStyle/>
          <a:p>
            <a:r>
              <a:rPr lang="en-US" b="1" dirty="0"/>
              <a:t>01.Total Clients</a:t>
            </a:r>
          </a:p>
          <a:p>
            <a:r>
              <a:rPr lang="en-US" dirty="0"/>
              <a:t>SELECT COUNT(DISTINCT `Client id`) </a:t>
            </a:r>
          </a:p>
          <a:p>
            <a:r>
              <a:rPr lang="en-US" dirty="0"/>
              <a:t>AS </a:t>
            </a:r>
            <a:r>
              <a:rPr lang="en-US" dirty="0" err="1"/>
              <a:t>Total_ClientsFROM</a:t>
            </a:r>
            <a:r>
              <a:rPr lang="en-US" dirty="0"/>
              <a:t> </a:t>
            </a:r>
            <a:r>
              <a:rPr lang="en-US" dirty="0" err="1"/>
              <a:t>banking_dataset</a:t>
            </a:r>
            <a:r>
              <a:rPr lang="en-US" dirty="0"/>
              <a:t>;</a:t>
            </a:r>
          </a:p>
          <a:p>
            <a:endParaRPr lang="en-US" b="1" dirty="0"/>
          </a:p>
          <a:p>
            <a:r>
              <a:rPr lang="en-US" b="1" dirty="0"/>
              <a:t>Active Clients</a:t>
            </a:r>
          </a:p>
          <a:p>
            <a:r>
              <a:rPr lang="en-US" dirty="0"/>
              <a:t>SELECT COUNT(DISTINCT `Client id`)</a:t>
            </a:r>
          </a:p>
          <a:p>
            <a:r>
              <a:rPr lang="en-US" dirty="0"/>
              <a:t> AS </a:t>
            </a:r>
            <a:r>
              <a:rPr lang="en-US" dirty="0" err="1"/>
              <a:t>Active_ClientsFROM</a:t>
            </a:r>
            <a:r>
              <a:rPr lang="en-US" dirty="0"/>
              <a:t> </a:t>
            </a:r>
            <a:r>
              <a:rPr lang="en-US" dirty="0" err="1"/>
              <a:t>banking_dataset</a:t>
            </a:r>
            <a:endParaRPr lang="en-US" dirty="0"/>
          </a:p>
          <a:p>
            <a:r>
              <a:rPr lang="en-US" dirty="0"/>
              <a:t>WHERE `Loan Status` = 'Active';</a:t>
            </a:r>
          </a:p>
          <a:p>
            <a:endParaRPr lang="en-US" b="1" dirty="0"/>
          </a:p>
          <a:p>
            <a:r>
              <a:rPr lang="en-US" b="1" dirty="0"/>
              <a:t>02.New Clients</a:t>
            </a:r>
          </a:p>
          <a:p>
            <a:r>
              <a:rPr lang="en-US" dirty="0"/>
              <a:t>SELECT     `Client id`,    MIN(`Disbursement Date`) </a:t>
            </a:r>
          </a:p>
          <a:p>
            <a:r>
              <a:rPr lang="en-US" dirty="0"/>
              <a:t>AS </a:t>
            </a:r>
            <a:r>
              <a:rPr lang="en-US" dirty="0" err="1"/>
              <a:t>First_Loan_DateFROM</a:t>
            </a:r>
            <a:r>
              <a:rPr lang="en-US" dirty="0"/>
              <a:t> </a:t>
            </a:r>
            <a:r>
              <a:rPr lang="en-US" dirty="0" err="1"/>
              <a:t>banking_dataset</a:t>
            </a:r>
            <a:endParaRPr lang="en-US" dirty="0"/>
          </a:p>
          <a:p>
            <a:r>
              <a:rPr lang="en-US" dirty="0"/>
              <a:t>GROUP BY `Client id`;</a:t>
            </a:r>
          </a:p>
          <a:p>
            <a:r>
              <a:rPr lang="en-US" dirty="0"/>
              <a:t>SELECT     </a:t>
            </a:r>
            <a:r>
              <a:rPr lang="en-US" dirty="0" err="1"/>
              <a:t>b.`Branch</a:t>
            </a:r>
            <a:r>
              <a:rPr lang="en-US" dirty="0"/>
              <a:t> Name`,    COUNT(*)</a:t>
            </a:r>
          </a:p>
          <a:p>
            <a:r>
              <a:rPr lang="en-US" dirty="0"/>
              <a:t> AS </a:t>
            </a:r>
            <a:r>
              <a:rPr lang="en-US" dirty="0" err="1"/>
              <a:t>New_ClientsFROM</a:t>
            </a:r>
            <a:r>
              <a:rPr lang="en-US" dirty="0"/>
              <a:t> (    SELECT         `Client id`,        `Branch Name`, </a:t>
            </a:r>
          </a:p>
          <a:p>
            <a:r>
              <a:rPr lang="en-US" dirty="0"/>
              <a:t>       MIN(`Disbursement Date`) AS </a:t>
            </a:r>
            <a:r>
              <a:rPr lang="en-US" dirty="0" err="1"/>
              <a:t>First_Loan_Date</a:t>
            </a:r>
            <a:r>
              <a:rPr lang="en-US" dirty="0"/>
              <a:t>    </a:t>
            </a:r>
          </a:p>
          <a:p>
            <a:r>
              <a:rPr lang="en-US" dirty="0"/>
              <a:t>FROM </a:t>
            </a:r>
            <a:r>
              <a:rPr lang="en-US" dirty="0" err="1"/>
              <a:t>banking_dataset</a:t>
            </a:r>
            <a:r>
              <a:rPr lang="en-US" dirty="0"/>
              <a:t>    GROUP BY `Client id`, `Branch Name`) </a:t>
            </a:r>
          </a:p>
          <a:p>
            <a:r>
              <a:rPr lang="en-US" dirty="0"/>
              <a:t>AS </a:t>
            </a:r>
            <a:r>
              <a:rPr lang="en-US" dirty="0" err="1"/>
              <a:t>bWHERE</a:t>
            </a:r>
            <a:r>
              <a:rPr lang="en-US" dirty="0"/>
              <a:t> </a:t>
            </a:r>
            <a:r>
              <a:rPr lang="en-US" dirty="0" err="1"/>
              <a:t>First_Loan_Date</a:t>
            </a:r>
            <a:r>
              <a:rPr lang="en-US" dirty="0"/>
              <a:t> BETWEEN '2023-01-01' AND '2023-03-31‘</a:t>
            </a:r>
          </a:p>
          <a:p>
            <a:r>
              <a:rPr lang="en-US" dirty="0"/>
              <a:t>GROUP BY </a:t>
            </a:r>
            <a:r>
              <a:rPr lang="en-US" dirty="0" err="1"/>
              <a:t>b.`Branch</a:t>
            </a:r>
            <a:r>
              <a:rPr lang="en-US" dirty="0"/>
              <a:t> Name`;</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1953" y="1364972"/>
            <a:ext cx="3258793" cy="1351724"/>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5548" y="2716696"/>
            <a:ext cx="2019300" cy="1333500"/>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4848" y="4274531"/>
            <a:ext cx="2295525" cy="1990725"/>
          </a:xfrm>
          <a:prstGeom prst="rect">
            <a:avLst/>
          </a:prstGeom>
        </p:spPr>
      </p:pic>
    </p:spTree>
    <p:extLst>
      <p:ext uri="{BB962C8B-B14F-4D97-AF65-F5344CB8AC3E}">
        <p14:creationId xmlns:p14="http://schemas.microsoft.com/office/powerpoint/2010/main" val="421238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0848" y="675862"/>
            <a:ext cx="11582400" cy="4524315"/>
          </a:xfrm>
          <a:prstGeom prst="rect">
            <a:avLst/>
          </a:prstGeom>
          <a:noFill/>
        </p:spPr>
        <p:txBody>
          <a:bodyPr wrap="square" rtlCol="0">
            <a:spAutoFit/>
          </a:bodyPr>
          <a:lstStyle/>
          <a:p>
            <a:r>
              <a:rPr lang="en-IN" b="1" dirty="0"/>
              <a:t>Average Loan Size</a:t>
            </a:r>
          </a:p>
          <a:p>
            <a:endParaRPr lang="en-IN" b="1" dirty="0"/>
          </a:p>
          <a:p>
            <a:r>
              <a:rPr lang="en-US" dirty="0"/>
              <a:t>SELECT     `Branch Name`,    ROUND(AVG(`Loan Amount`) / 1000, 2)</a:t>
            </a:r>
          </a:p>
          <a:p>
            <a:r>
              <a:rPr lang="en-US" dirty="0"/>
              <a:t> AS </a:t>
            </a:r>
            <a:r>
              <a:rPr lang="en-US" dirty="0" err="1"/>
              <a:t>Average_Loan_Size_KFROM</a:t>
            </a:r>
            <a:r>
              <a:rPr lang="en-US" dirty="0"/>
              <a:t>  </a:t>
            </a:r>
            <a:r>
              <a:rPr lang="en-US" dirty="0" err="1"/>
              <a:t>banking_dataset</a:t>
            </a:r>
            <a:r>
              <a:rPr lang="en-US" dirty="0"/>
              <a:t> GROUP BY `Branch Name`</a:t>
            </a:r>
          </a:p>
          <a:p>
            <a:r>
              <a:rPr lang="en-US" dirty="0"/>
              <a:t>ORDER BY </a:t>
            </a:r>
            <a:r>
              <a:rPr lang="en-US" dirty="0" err="1"/>
              <a:t>Average_Loan_Size_K</a:t>
            </a:r>
            <a:r>
              <a:rPr lang="en-US" dirty="0"/>
              <a:t> DESC;</a:t>
            </a:r>
            <a:endParaRPr lang="en-IN" dirty="0"/>
          </a:p>
          <a:p>
            <a:endParaRPr lang="en-IN" b="1" dirty="0"/>
          </a:p>
          <a:p>
            <a:endParaRPr lang="en-IN" b="1" dirty="0"/>
          </a:p>
          <a:p>
            <a:endParaRPr lang="en-IN" b="1" dirty="0"/>
          </a:p>
          <a:p>
            <a:endParaRPr lang="en-IN" b="1" dirty="0"/>
          </a:p>
          <a:p>
            <a:endParaRPr lang="en-IN" b="1" dirty="0"/>
          </a:p>
          <a:p>
            <a:endParaRPr lang="en-IN" b="1" dirty="0"/>
          </a:p>
          <a:p>
            <a:r>
              <a:rPr lang="en-IN" b="1" dirty="0"/>
              <a:t>Total Repayments Collected</a:t>
            </a:r>
          </a:p>
          <a:p>
            <a:endParaRPr lang="en-IN" b="1" dirty="0"/>
          </a:p>
          <a:p>
            <a:r>
              <a:rPr lang="en-US" dirty="0"/>
              <a:t>SELECT     ROUND(SUM(`Total Payment`) / 1000000, 2) </a:t>
            </a:r>
          </a:p>
          <a:p>
            <a:r>
              <a:rPr lang="en-US" dirty="0"/>
              <a:t>AS Total_Repayments_Collected_MFROM Fact_Repayment;</a:t>
            </a:r>
            <a:endParaRPr lang="en-IN" dirty="0"/>
          </a:p>
          <a:p>
            <a:endParaRPr lang="en-IN"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15570" y="675862"/>
            <a:ext cx="3124200" cy="1971675"/>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72570" y="3247822"/>
            <a:ext cx="2286000" cy="1647825"/>
          </a:xfrm>
          <a:prstGeom prst="rect">
            <a:avLst/>
          </a:prstGeom>
        </p:spPr>
      </p:pic>
    </p:spTree>
    <p:extLst>
      <p:ext uri="{BB962C8B-B14F-4D97-AF65-F5344CB8AC3E}">
        <p14:creationId xmlns:p14="http://schemas.microsoft.com/office/powerpoint/2010/main" val="562784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44C9F-7203-E3D1-B0E7-FE0E5B710B22}"/>
              </a:ext>
            </a:extLst>
          </p:cNvPr>
          <p:cNvSpPr>
            <a:spLocks noGrp="1"/>
          </p:cNvSpPr>
          <p:nvPr>
            <p:ph type="title"/>
          </p:nvPr>
        </p:nvSpPr>
        <p:spPr>
          <a:xfrm>
            <a:off x="581192" y="702156"/>
            <a:ext cx="11029616" cy="616690"/>
          </a:xfrm>
        </p:spPr>
        <p:txBody>
          <a:bodyPr/>
          <a:lstStyle/>
          <a:p>
            <a:r>
              <a:rPr lang="en-US" dirty="0"/>
              <a:t>Overall Insights</a:t>
            </a:r>
          </a:p>
        </p:txBody>
      </p:sp>
      <p:sp>
        <p:nvSpPr>
          <p:cNvPr id="3" name="Content Placeholder 2">
            <a:extLst>
              <a:ext uri="{FF2B5EF4-FFF2-40B4-BE49-F238E27FC236}">
                <a16:creationId xmlns:a16="http://schemas.microsoft.com/office/drawing/2014/main" id="{817C9540-1B06-68C0-E07B-5CEA34F52A37}"/>
              </a:ext>
            </a:extLst>
          </p:cNvPr>
          <p:cNvSpPr>
            <a:spLocks noGrp="1"/>
          </p:cNvSpPr>
          <p:nvPr>
            <p:ph idx="1"/>
          </p:nvPr>
        </p:nvSpPr>
        <p:spPr>
          <a:xfrm>
            <a:off x="581192" y="1784838"/>
            <a:ext cx="11029615" cy="4624754"/>
          </a:xfrm>
        </p:spPr>
        <p:txBody>
          <a:bodyPr>
            <a:normAutofit fontScale="92500" lnSpcReduction="20000"/>
          </a:bodyPr>
          <a:lstStyle/>
          <a:p>
            <a:r>
              <a:rPr lang="en-US" dirty="0"/>
              <a:t>From our analysis of the banking data, we found several key trends. Some branches performed better than others in terms of deposits and loans. Customer behavior varied, with certain customers contributing more to deposits, while loans were distributed across many branches. We also observed seasonal patterns in transactions, showing months with higher activity. These insights help the bank understand overall performance, identify areas for improvement, and make better decisions.</a:t>
            </a:r>
          </a:p>
          <a:p>
            <a:r>
              <a:rPr lang="en-US" dirty="0"/>
              <a:t>SQL = backbone for clean data</a:t>
            </a:r>
          </a:p>
          <a:p>
            <a:endParaRPr lang="en-US" dirty="0"/>
          </a:p>
          <a:p>
            <a:r>
              <a:rPr lang="en-US" dirty="0"/>
              <a:t>Excel = quick analysis tool</a:t>
            </a:r>
          </a:p>
          <a:p>
            <a:endParaRPr lang="en-US" dirty="0"/>
          </a:p>
          <a:p>
            <a:r>
              <a:rPr lang="en-US" dirty="0"/>
              <a:t>Tableau = storytelling &amp; visual exploration</a:t>
            </a:r>
          </a:p>
          <a:p>
            <a:endParaRPr lang="en-US" dirty="0"/>
          </a:p>
          <a:p>
            <a:r>
              <a:rPr lang="en-US" dirty="0"/>
              <a:t>Power BI = KPI-driven dashboard &amp; reporting</a:t>
            </a:r>
          </a:p>
          <a:p>
            <a:endParaRPr lang="en-US" dirty="0"/>
          </a:p>
          <a:p>
            <a:r>
              <a:rPr lang="en-US" dirty="0"/>
              <a:t>Teamwork in combining tools gave holistic insights</a:t>
            </a:r>
          </a:p>
        </p:txBody>
      </p:sp>
    </p:spTree>
    <p:extLst>
      <p:ext uri="{BB962C8B-B14F-4D97-AF65-F5344CB8AC3E}">
        <p14:creationId xmlns:p14="http://schemas.microsoft.com/office/powerpoint/2010/main" val="3165136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8DD16-34B3-1ED9-1740-40B36C918282}"/>
              </a:ext>
            </a:extLst>
          </p:cNvPr>
          <p:cNvSpPr>
            <a:spLocks noGrp="1"/>
          </p:cNvSpPr>
          <p:nvPr>
            <p:ph type="title"/>
          </p:nvPr>
        </p:nvSpPr>
        <p:spPr>
          <a:xfrm>
            <a:off x="581192" y="702156"/>
            <a:ext cx="11029616" cy="634275"/>
          </a:xfrm>
        </p:spPr>
        <p:txBody>
          <a:bodyPr/>
          <a:lstStyle/>
          <a:p>
            <a:r>
              <a:rPr lang="en-US" dirty="0"/>
              <a:t>Learnings from the Project</a:t>
            </a:r>
          </a:p>
        </p:txBody>
      </p:sp>
      <p:sp>
        <p:nvSpPr>
          <p:cNvPr id="3" name="Content Placeholder 2">
            <a:extLst>
              <a:ext uri="{FF2B5EF4-FFF2-40B4-BE49-F238E27FC236}">
                <a16:creationId xmlns:a16="http://schemas.microsoft.com/office/drawing/2014/main" id="{CBF71A65-4058-E775-65C2-068CF1BB98C2}"/>
              </a:ext>
            </a:extLst>
          </p:cNvPr>
          <p:cNvSpPr>
            <a:spLocks noGrp="1"/>
          </p:cNvSpPr>
          <p:nvPr>
            <p:ph idx="1"/>
          </p:nvPr>
        </p:nvSpPr>
        <p:spPr>
          <a:xfrm>
            <a:off x="581193" y="1523180"/>
            <a:ext cx="11029615" cy="3634486"/>
          </a:xfrm>
        </p:spPr>
        <p:txBody>
          <a:bodyPr/>
          <a:lstStyle/>
          <a:p>
            <a:r>
              <a:rPr lang="en-US" dirty="0"/>
              <a:t>Through this project, we learned how to work effectively as a team by dividing tasks, collaborating on ideas, and combining our efforts into a single outcome. </a:t>
            </a:r>
          </a:p>
          <a:p>
            <a:r>
              <a:rPr lang="en-US" dirty="0"/>
              <a:t>Each member contributed to different parts of the project such as data cleaning, dashboard creation, and presenting insights. </a:t>
            </a:r>
          </a:p>
          <a:p>
            <a:r>
              <a:rPr lang="en-US" dirty="0"/>
              <a:t>We also gained hands-on experience with multiple BI tools — SQL, Excel, Tableau, and Power BI — and understood their unique strengths and limitations. </a:t>
            </a:r>
          </a:p>
          <a:p>
            <a:r>
              <a:rPr lang="en-US" dirty="0"/>
              <a:t>Most importantly, we learned how teamwork and the right use of tools can transform raw data into meaningful insights that support real-world decision-making.</a:t>
            </a:r>
          </a:p>
        </p:txBody>
      </p:sp>
    </p:spTree>
    <p:extLst>
      <p:ext uri="{BB962C8B-B14F-4D97-AF65-F5344CB8AC3E}">
        <p14:creationId xmlns:p14="http://schemas.microsoft.com/office/powerpoint/2010/main" val="1567307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66D34-D55F-9994-8960-3B32A1FC8782}"/>
              </a:ext>
            </a:extLst>
          </p:cNvPr>
          <p:cNvSpPr>
            <a:spLocks noGrp="1"/>
          </p:cNvSpPr>
          <p:nvPr>
            <p:ph type="title"/>
          </p:nvPr>
        </p:nvSpPr>
        <p:spPr>
          <a:xfrm>
            <a:off x="581192" y="2618879"/>
            <a:ext cx="11029616" cy="1188720"/>
          </a:xfrm>
        </p:spPr>
        <p:txBody>
          <a:bodyPr>
            <a:normAutofit fontScale="90000"/>
          </a:bodyPr>
          <a:lstStyle/>
          <a:p>
            <a:r>
              <a:rPr lang="en-US" sz="8000" dirty="0"/>
              <a:t>Thank you !!!  😊</a:t>
            </a:r>
          </a:p>
        </p:txBody>
      </p:sp>
    </p:spTree>
    <p:extLst>
      <p:ext uri="{BB962C8B-B14F-4D97-AF65-F5344CB8AC3E}">
        <p14:creationId xmlns:p14="http://schemas.microsoft.com/office/powerpoint/2010/main" val="861490056"/>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{26AD568E-5216-4730-8A13-204A450F4BEF}TF201209c3-d067-44f9-a26f-c8f216c443132338b0b8_win32-bd4b3b67ca24</Template>
  <TotalTime>449</TotalTime>
  <Words>950</Words>
  <Application>Microsoft Office PowerPoint</Application>
  <PresentationFormat>Widescreen</PresentationFormat>
  <Paragraphs>112</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Franklin Gothic Book</vt:lpstr>
      <vt:lpstr>Franklin Gothic Demi</vt:lpstr>
      <vt:lpstr>Wingdings 2</vt:lpstr>
      <vt:lpstr>DividendVTI</vt:lpstr>
      <vt:lpstr>Final Presentation of Project DBS Bank LOAN Data analysis   </vt:lpstr>
      <vt:lpstr>Index</vt:lpstr>
      <vt:lpstr>Project Introduction</vt:lpstr>
      <vt:lpstr>Objectives &amp; Scope</vt:lpstr>
      <vt:lpstr>Key KPIs</vt:lpstr>
      <vt:lpstr>Key Performance Indicators (KPIs)</vt:lpstr>
      <vt:lpstr>Insights</vt:lpstr>
      <vt:lpstr>Recommendations</vt:lpstr>
      <vt:lpstr>Excel Dashboard : DBS Bank LOAN Analysis Dashboard</vt:lpstr>
      <vt:lpstr>Tableau Dashboard: bank  LOAN data analysis</vt:lpstr>
      <vt:lpstr>Power BI:  DBS Bank LOAN Data analysis </vt:lpstr>
      <vt:lpstr>SQL:  DBS Bank LOAN Data analysis </vt:lpstr>
      <vt:lpstr>PowerPoint Presentation</vt:lpstr>
      <vt:lpstr>Overall Insights</vt:lpstr>
      <vt:lpstr>Learnings from the Project</vt:lpstr>
      <vt:lpstr>Thank you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Presentation of Project DBS Bank LOAN Data analysis and</dc:title>
  <dc:creator>Nayan Mhatre</dc:creator>
  <cp:lastModifiedBy>SHRAVANI DHURI</cp:lastModifiedBy>
  <cp:revision>16</cp:revision>
  <dcterms:created xsi:type="dcterms:W3CDTF">2025-09-01T06:42:50Z</dcterms:created>
  <dcterms:modified xsi:type="dcterms:W3CDTF">2025-11-14T07:38:47Z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